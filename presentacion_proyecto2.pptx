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María José Girón.</a:t>
            </a:r>
          </a:p>
          <a:p>
            <a:r>
              <a:t>Somos el grupo 5. El proyecto es sobre reconocimiento automático de deletreo manual en lenguaje de señas americano, a partir de la competencia que Google publicó en Kaggle en 2023.</a:t>
            </a:r>
          </a:p>
          <a:p>
            <a:r>
              <a:t>Lo que presentamos hoy es el análisis exploratorio: qué traen los datos, en qué estado están y qué hay que resolver antes de pensar en un modelo. Todavía no entrenamos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José Donado.</a:t>
            </a:r>
          </a:p>
          <a:p>
            <a:r>
              <a:t>Transición corta, no te detengas aquí.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José Donado.</a:t>
            </a:r>
          </a:p>
          <a:p>
            <a:r>
              <a:t>Ejemplo aterrizado: deletrear tu apellido en una llamada, letra por letra.</a:t>
            </a:r>
          </a:p>
          <a:p>
            <a:r>
              <a:t>Los dos números de la derecha son las anclas: no es un caso excepcional (12 a 35 % del discurso) y va a 5 o 6 letras por segundo.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José Donado.</a:t>
            </a:r>
          </a:p>
          <a:p>
            <a:r>
              <a:t>Contraste clave: una seña de palabra completa casi se identifica por la forma de la mano; el deletreo no, porque las letras se encadenan y se deforman entre 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María José Girón.</a:t>
            </a:r>
          </a:p>
          <a:p>
            <a:r>
              <a:t>Lee la pregunta grande completa, es el corazón del proyecto.</a:t>
            </a:r>
          </a:p>
          <a:p>
            <a:r>
              <a:t>Cierra con la delimitación: que nadie espere resultados de predicción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María José Girón.</a:t>
            </a:r>
          </a:p>
          <a:p>
            <a:r>
              <a:t>No leas los cinco textualmente: di el general completo y resume los específicos en una frase cada uno. Cada objetivo tiene su criterio de cumplimiento en el informe.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Leonardo Mejía.</a:t>
            </a:r>
          </a:p>
          <a:p>
            <a:r>
              <a:t>Transición corta.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Leonardo Mejía.</a:t>
            </a:r>
          </a:p>
          <a:p>
            <a:r>
              <a:t>Señala la imagen: la nube apretada es el rostro, los puntos dispersos son la pose y el grupo cerca de la cara es la mano. Que la mano esté ahí es lo esperado en deletreo.</a:t>
            </a:r>
          </a:p>
          <a:p>
            <a:r>
              <a:t>Si preguntan qué es un landmark: un punto de referencia anatómico, por ejemplo la punta del índice o la muñeca.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Leonardo Mejía.</a:t>
            </a:r>
          </a:p>
          <a:p>
            <a:r>
              <a:t>El dato que más llama la atención es el desbalance entre participantes: de 1 a 1,535 secuencias.</a:t>
            </a:r>
          </a:p>
          <a:p>
            <a:r>
              <a:t>Aclara por qué usamos una muestra: el conjunto completo son 158 GB y no hace falta para un 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Leonardo Mejía.</a:t>
            </a:r>
          </a:p>
          <a:p>
            <a:r>
              <a:t>El punto importante de esta diapositiva es el recuadro de abajo: train.csv no trae ninguna variable numérica que se pueda describir por sí sola, todo lo numérico es derivado.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Cindy Gualim.</a:t>
            </a:r>
          </a:p>
          <a:p>
            <a:r>
              <a:t>Insiste en la idea: no es un error de captura ni datos corruptos, es ausencia de detección.</a:t>
            </a:r>
          </a:p>
          <a:p>
            <a:r>
              <a:t>Las coordenadas ya vienen normalizadas por MediaPipe, así que no hay 'suciedad' clásica.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Cindy Gualim.</a:t>
            </a:r>
          </a:p>
          <a:p>
            <a:r>
              <a:t>El forward-fill no rellena los NaN anteriores al primer cuadro con mano: no hay valor previo que arrastrar, y rellenarlos hacia atrás sería inventar una posición.</a:t>
            </a:r>
          </a:p>
          <a:p>
            <a:r>
              <a:t>El resultado quedó guardado en data/processed/ para que el resto de notebooks parta de ahí.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Daniela Ramírez.</a:t>
            </a:r>
          </a:p>
          <a:p>
            <a:r>
              <a:t>Transición corta.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Daniela Ramírez.</a:t>
            </a:r>
          </a:p>
          <a:p>
            <a:r>
              <a:t>Las frases son direcciones, teléfonos y URLs, por eso están acotadas.</a:t>
            </a:r>
          </a:p>
          <a:p>
            <a:r>
              <a:t>Coeficiente de variación cercano a 0.32: dispersión baja frente a la media.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Daniela Ramírez.</a:t>
            </a:r>
          </a:p>
          <a:p>
            <a:r>
              <a:t>Contraste con la diapositiva anterior: la frase es predecible, la secuencia no. Frases de largo parecido pueden tomar duraciones muy distintas.</a:t>
            </a:r>
          </a:p>
          <a:p>
            <a:r>
              <a:t>Consecuencia directa para el modelado: longitudes de entrada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Daniela Ramírez.</a:t>
            </a:r>
          </a:p>
          <a:p>
            <a:r>
              <a:t>El peso de los dígitos tiene sentido: buena parte de las frases son direcciones y teléfonos, no texto corrido.</a:t>
            </a:r>
          </a:p>
          <a:p>
            <a:r>
              <a:t>Consecuencia: hay que reportar desempeño por carácter, porque el promedio esconde a las clases raras.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José Donado.</a:t>
            </a:r>
          </a:p>
          <a:p>
            <a:r>
              <a:t>Es la relación más fuerte que encontramos en todo el análisis.</a:t>
            </a:r>
          </a:p>
          <a:p>
            <a:r>
              <a:t>Si preguntan por qué no es más alta: porque la velocidad de deletreo y las pausas varían entre personas y entre momentos.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José Donado.</a:t>
            </a:r>
          </a:p>
          <a:p>
            <a:r>
              <a:t>Se graficaron los 15 participantes con más datos; la línea roja es la mediana global.</a:t>
            </a:r>
          </a:p>
          <a:p>
            <a:r>
              <a:t>Esta diferencia entre personas es la razón de separar entrenamiento y validación por participante.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José Donado.</a:t>
            </a:r>
          </a:p>
          <a:p>
            <a:r>
              <a:t>La lectura de la matriz: solo un cruce es informativo, los otros dos son débiles o nulos.</a:t>
            </a:r>
          </a:p>
          <a:p>
            <a:r>
              <a:t>Sobre los límites negativos que da la fórmula del IQR: como ninguna de las dos variables puede ser negativa, el límite inferior real se interpreta como cero.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María José Girón.</a:t>
            </a:r>
          </a:p>
          <a:p>
            <a:r>
              <a:t>Las coordenadas x e y están entre 0 y 1: MediaPipe ya normaliza al espacio de la cámara.</a:t>
            </a:r>
          </a:p>
          <a:p>
            <a:r>
              <a:t>Las zonas con menos puntos son movimientos rápidos de transición entre letras.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Cindy Gualim.</a:t>
            </a:r>
          </a:p>
          <a:p>
            <a:r>
              <a:t>Transición corta.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Cindy Gualim.</a:t>
            </a:r>
          </a:p>
          <a:p>
            <a:r>
              <a:t>Son los cuatro hallazgos que sostienen las conclusiones; no agregues números nuevos aquí.</a:t>
            </a:r>
          </a:p>
          <a:p>
            <a:r>
              <a:t>Si el tiempo aprieta, esta es la diapositiva que hay que decir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Daniela Ramírez.</a:t>
            </a:r>
          </a:p>
          <a:p>
            <a:r>
              <a:t>Cada conclusión sale de una evidencia concreta del análisis, no de una preferencia: el forward-fill sale de la sección de limpieza, la separación por participante sale del boxplot y el reporte por carácter sale del desbalance del alfabeto.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Daniela Ramírez.</a:t>
            </a:r>
          </a:p>
          <a:p>
            <a:r>
              <a:t>Preguntas frecuentes: por qué no se usó el dataset completo (158 GB, no hace falta para un EDA); por qué se conserva pose y no rostro (pose ubica brazos y hombros, es marco de referencia del movimiento).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188720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2B5A6"/>
                </a:solidFill>
                <a:latin typeface="Calibri"/>
              </a:rPr>
              <a:t>PROYECTO 2  ·  ANÁLISIS EXPLORATORIO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70408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Reconocimiento de deletreo manual en lenguaje de señas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950208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B9B4E0"/>
                </a:solidFill>
                <a:latin typeface="Calibri"/>
              </a:rPr>
              <a:t>Google · ASL Fingerspelling Recognition (Kaggle,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617720"/>
            <a:ext cx="7040880" cy="932688"/>
          </a:xfrm>
          <a:prstGeom prst="roundRect">
            <a:avLst>
              <a:gd name="adj" fmla="val 11764"/>
            </a:avLst>
          </a:prstGeom>
          <a:solidFill>
            <a:srgbClr val="271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43000" y="4754880"/>
            <a:ext cx="6492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María José Girón Isidro · Leonardo Dufrey Mejía Mejía · Cindy Mishelle Gualim Pérez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Daniela Ramírez de León · José Donado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8F86D6"/>
                </a:solidFill>
                <a:latin typeface="Calibri"/>
              </a:rPr>
              <a:t>CC3084 Data Science  ·  Universidad del Valle de Guatemala  ·  Septiembre 2026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9528962" y="5013198"/>
            <a:ext cx="460857" cy="43434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9240926" y="4491990"/>
            <a:ext cx="288036" cy="52120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068104" y="3970782"/>
            <a:ext cx="172822" cy="52120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8924086" y="3493008"/>
            <a:ext cx="144018" cy="47777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9701784" y="3623310"/>
            <a:ext cx="288035" cy="18242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615373" y="3015234"/>
            <a:ext cx="86411" cy="60807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9557765" y="2537460"/>
            <a:ext cx="57608" cy="47777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9528962" y="2103120"/>
            <a:ext cx="28803" cy="43434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701784" y="3493008"/>
            <a:ext cx="345643" cy="13030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047427" y="2798064"/>
            <a:ext cx="0" cy="69494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047427" y="2320290"/>
            <a:ext cx="0" cy="47777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047427" y="1842516"/>
            <a:ext cx="0" cy="47777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47427" y="3493008"/>
            <a:ext cx="316839" cy="13030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364266" y="2971800"/>
            <a:ext cx="57608" cy="65151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421874" y="2494026"/>
            <a:ext cx="28803" cy="47777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450677" y="2103120"/>
            <a:ext cx="28804" cy="39090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64266" y="3623310"/>
            <a:ext cx="316840" cy="21717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681106" y="3319272"/>
            <a:ext cx="144018" cy="52120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825124" y="2928366"/>
            <a:ext cx="86411" cy="39090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911535" y="2580894"/>
            <a:ext cx="57607" cy="34747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989819" y="3840480"/>
            <a:ext cx="691287" cy="160705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909581" y="5367299"/>
            <a:ext cx="160477" cy="160477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9469526" y="4953762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181490" y="4432553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008668" y="3911346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864650" y="3433572"/>
            <a:ext cx="118872" cy="118872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9642348" y="3563874"/>
            <a:ext cx="118872" cy="118872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555937" y="2955798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9498330" y="2478024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469526" y="2043684"/>
            <a:ext cx="118872" cy="118872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9987991" y="3433572"/>
            <a:ext cx="118872" cy="118872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987991" y="2738628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987991" y="2260854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9987991" y="1783080"/>
            <a:ext cx="118872" cy="118872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0304830" y="3563874"/>
            <a:ext cx="118872" cy="118872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0362438" y="2912364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0391241" y="2434590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0420045" y="2043684"/>
            <a:ext cx="118872" cy="118872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621670" y="3781044"/>
            <a:ext cx="118872" cy="118872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10765688" y="3259836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10852099" y="2868930"/>
            <a:ext cx="118872" cy="118872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10909706" y="2521458"/>
            <a:ext cx="118872" cy="118872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0574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1">
                <a:solidFill>
                  <a:srgbClr val="12B5A6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59" y="2999232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El caso y 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406908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B9B4E0"/>
                </a:solidFill>
                <a:latin typeface="Calibri"/>
              </a:rPr>
              <a:t>Qué es el deletreo manual, por qué es difícil de reconocer y qué nos preguntamos.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9526219" y="4782312"/>
            <a:ext cx="395021" cy="36576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9279331" y="4343400"/>
            <a:ext cx="246888" cy="4389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9131198" y="3904487"/>
            <a:ext cx="148133" cy="43891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007754" y="3502152"/>
            <a:ext cx="123444" cy="40233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9674352" y="3611880"/>
            <a:ext cx="246888" cy="153619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600285" y="3099815"/>
            <a:ext cx="74067" cy="51206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9550908" y="2697480"/>
            <a:ext cx="49377" cy="40233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9526219" y="2331720"/>
            <a:ext cx="24689" cy="36576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674352" y="3502152"/>
            <a:ext cx="296265" cy="1097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970617" y="2916936"/>
            <a:ext cx="0" cy="58521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970617" y="2514600"/>
            <a:ext cx="0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970617" y="2112264"/>
            <a:ext cx="0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70617" y="3502152"/>
            <a:ext cx="271577" cy="1097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242194" y="3063240"/>
            <a:ext cx="49378" cy="54864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291572" y="2660904"/>
            <a:ext cx="24688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316260" y="2331720"/>
            <a:ext cx="24689" cy="32918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42194" y="3611880"/>
            <a:ext cx="271577" cy="18288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513771" y="3355848"/>
            <a:ext cx="123444" cy="4389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37215" y="3026664"/>
            <a:ext cx="74066" cy="32918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711281" y="2734056"/>
            <a:ext cx="49378" cy="29260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921240" y="3794760"/>
            <a:ext cx="592531" cy="13533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859517" y="5086350"/>
            <a:ext cx="123444" cy="123444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480499" y="4736592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233611" y="429768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085478" y="3858768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962034" y="3456432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628632" y="356616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554565" y="3054096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505188" y="265176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9480499" y="2286000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924897" y="3456432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9924897" y="2871216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924897" y="246888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9924897" y="2066544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196474" y="356616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0245852" y="301752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0270540" y="2615184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0295229" y="2286000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0468051" y="374904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0591495" y="3310128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0665561" y="2980944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714939" y="2688336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INTRODUCCIÓN DEL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¿Qué es el deletreo manual?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94614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50976" y="1874519"/>
            <a:ext cx="5449824" cy="542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Se deletrea letra por letra lo que no tiene seña propia: nombres, direcciones, siglas y términos técnicos.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270814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50976" y="2636519"/>
            <a:ext cx="5449824" cy="542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Lo usan a diario la comunidad sorda, intérpretes y estudiantes de ASL.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347014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3398519"/>
            <a:ext cx="5449824" cy="542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Se hace con una mano, a la altura del hombro y con la palma hacia quien recibe el mensaje.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874519"/>
            <a:ext cx="4690872" cy="1783080"/>
          </a:xfrm>
          <a:prstGeom prst="roundRect">
            <a:avLst>
              <a:gd name="adj" fmla="val 6153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0" y="2075688"/>
            <a:ext cx="4142232" cy="1380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0B7A70"/>
                </a:solidFill>
                <a:latin typeface="Calibri"/>
              </a:rPr>
              <a:t>12 – 35 %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1E1A3C"/>
                </a:solidFill>
                <a:latin typeface="Calibri"/>
              </a:rPr>
              <a:t>del discurso en ASL es deletreo manual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886200"/>
            <a:ext cx="4690872" cy="1783080"/>
          </a:xfrm>
          <a:prstGeom prst="roundRect">
            <a:avLst>
              <a:gd name="adj" fmla="val 6153"/>
            </a:avLst>
          </a:prstGeom>
          <a:solidFill>
            <a:srgbClr val="FF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0" y="4087368"/>
            <a:ext cx="4142232" cy="1380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D6432A"/>
                </a:solidFill>
                <a:latin typeface="Calibri"/>
              </a:rPr>
              <a:t>5 – 6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1E1A3C"/>
                </a:solidFill>
                <a:latin typeface="Calibri"/>
              </a:rPr>
              <a:t>letras por segundo: es rapidísimo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5760720" cy="1600200"/>
          </a:xfrm>
          <a:prstGeom prst="roundRect">
            <a:avLst>
              <a:gd name="adj" fmla="val 6857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069080"/>
            <a:ext cx="5175504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8A5E00"/>
                </a:solidFill>
                <a:latin typeface="Calibri"/>
              </a:rPr>
              <a:t>TRES USOS PRINCIPALES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Nombres propios (personas, países, ciudades)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Términos técnicos o palabras sin seña establecida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Siglas y acrónimos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INTRODUCCIÓN DEL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Por qué es un reto distinto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32775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688" y="2407412"/>
            <a:ext cx="420624" cy="42062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40741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07412"/>
            <a:ext cx="412074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Movimiento, no 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029204"/>
            <a:ext cx="4742535" cy="470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El significado está en cómo se mueve la mano en el tiempo, no en una foto suelta.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1874519"/>
            <a:ext cx="532775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516471" y="2407412"/>
            <a:ext cx="420624" cy="420624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6471" y="240741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8263" y="2407412"/>
            <a:ext cx="412074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Coarticulación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471" y="3029204"/>
            <a:ext cx="4742535" cy="470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La mano ya se está acomodando para la letra siguiente mientras hace la actual.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33672"/>
            <a:ext cx="532775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32688" y="4875021"/>
            <a:ext cx="420624" cy="420624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87502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875021"/>
            <a:ext cx="412074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Letras parecidas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496813"/>
            <a:ext cx="4742535" cy="253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M, N y T se distinguen por detalles mínimos de los dedos.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4233672"/>
            <a:ext cx="532775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516471" y="4875021"/>
            <a:ext cx="420624" cy="42062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16471" y="487502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8263" y="4875021"/>
            <a:ext cx="412074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Variabilidad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6471" y="5496813"/>
            <a:ext cx="4742535" cy="253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Cambia con la persona, la iluminación, el encuadre y la oclusión.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PROBLEMA CIENTÍFICO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Problema a resolver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11535" cy="1325880"/>
          </a:xfrm>
          <a:prstGeom prst="roundRect">
            <a:avLst>
              <a:gd name="adj" fmla="val 9655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19" y="1965960"/>
            <a:ext cx="1027145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1E1A3C"/>
                </a:solidFill>
                <a:latin typeface="Calibri"/>
              </a:rPr>
              <a:t>¿Cuáles son las características, la calidad y la variabilidad de las secuencias de landmarks de manos, rostro y pose, y qué debe corregirse antes de usarlas para transcribir frases deletreadas?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101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A6590"/>
                </a:solidFill>
                <a:latin typeface="Calibri"/>
              </a:rPr>
              <a:t>PREGUNTAS ESPECÍFICAS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3713988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3657600"/>
            <a:ext cx="4946904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¿Qué variables y observaciones componen el conjunto, y de qué tipo son?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4341876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4285488"/>
            <a:ext cx="4946904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¿Cómo se distribuyen la duración de las secuencias y la longitud de las frases?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96976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913376"/>
            <a:ext cx="4946904" cy="268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¿Qué proporción de valores faltantes hay por región del cuerpo?</a:t>
            </a:r>
          </a:p>
        </p:txBody>
      </p:sp>
      <p:sp>
        <p:nvSpPr>
          <p:cNvPr id="13" name="Oval 12"/>
          <p:cNvSpPr/>
          <p:nvPr/>
        </p:nvSpPr>
        <p:spPr>
          <a:xfrm>
            <a:off x="6309359" y="3713988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01968" y="3657600"/>
            <a:ext cx="4946904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¿Hay diferencias sistemáticas entre participantes que exijan normalizar?</a:t>
            </a:r>
          </a:p>
        </p:txBody>
      </p:sp>
      <p:sp>
        <p:nvSpPr>
          <p:cNvPr id="15" name="Oval 14"/>
          <p:cNvSpPr/>
          <p:nvPr/>
        </p:nvSpPr>
        <p:spPr>
          <a:xfrm>
            <a:off x="6309359" y="4341876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01968" y="4285488"/>
            <a:ext cx="4946904" cy="268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¿Qué observaciones deben excluirse, y bajo qué criterio explícito?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742432"/>
            <a:ext cx="10911535" cy="621792"/>
          </a:xfrm>
          <a:prstGeom prst="roundRect">
            <a:avLst>
              <a:gd name="adj" fmla="val 17647"/>
            </a:avLst>
          </a:prstGeom>
          <a:solidFill>
            <a:srgbClr val="FF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0119" y="5742432"/>
            <a:ext cx="102714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D6432A"/>
                </a:solidFill>
                <a:latin typeface="Calibri"/>
              </a:rPr>
              <a:t>Delimitación: el estudio se queda en el análisis exploratorio. No se entrena ni se evalúa ningún modelo.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Qué nos propusimos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11535" cy="1298448"/>
          </a:xfrm>
          <a:prstGeom prst="roundRect">
            <a:avLst>
              <a:gd name="adj" fmla="val 9859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19" y="1938528"/>
            <a:ext cx="10271455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0B7A70"/>
                </a:solidFill>
                <a:latin typeface="Calibri"/>
              </a:rPr>
              <a:t>OBJETIVO GENERAL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Caracterizar la estructura, la calidad y la variabilidad del conjunto para justificar con evidencia empírica la limpieza que requiere antes de construir un modelo.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7355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A6590"/>
                </a:solidFill>
                <a:latin typeface="Calibri"/>
              </a:rPr>
              <a:t>OBJETIVOS ESPECÍFICOS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639312"/>
            <a:ext cx="384048" cy="38404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363931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3639312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Inventariar variables, observaciones y tipos de dato.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187952"/>
            <a:ext cx="384048" cy="384048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41879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4187952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Cuantificar los valores faltantes por región anatómica.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736592"/>
            <a:ext cx="384048" cy="384048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47365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4736592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Describir la duración de las secuencias y la longitud de las frases.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285231"/>
            <a:ext cx="384048" cy="38404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" y="5285231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5285231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Evaluar diferencias entre participantes y correlaciones entre variables.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833872"/>
            <a:ext cx="384048" cy="384048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58338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5833872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Elaborar gráficos exploratorios que evidencien distribuciones y valores atípicos.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0574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1">
                <a:solidFill>
                  <a:srgbClr val="12B5A6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59" y="2999232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406908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B9B4E0"/>
                </a:solidFill>
                <a:latin typeface="Calibri"/>
              </a:rPr>
              <a:t>Qué entrega la competencia, cómo está estructurado y cómo lo dejamos listo.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9526219" y="4782312"/>
            <a:ext cx="395021" cy="36576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9279331" y="4343400"/>
            <a:ext cx="246888" cy="4389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9131198" y="3904487"/>
            <a:ext cx="148133" cy="43891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007754" y="3502152"/>
            <a:ext cx="123444" cy="40233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9674352" y="3611880"/>
            <a:ext cx="246888" cy="153619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600285" y="3099815"/>
            <a:ext cx="74067" cy="51206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9550908" y="2697480"/>
            <a:ext cx="49377" cy="40233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9526219" y="2331720"/>
            <a:ext cx="24689" cy="36576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674352" y="3502152"/>
            <a:ext cx="296265" cy="1097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970617" y="2916936"/>
            <a:ext cx="0" cy="58521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970617" y="2514600"/>
            <a:ext cx="0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970617" y="2112264"/>
            <a:ext cx="0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70617" y="3502152"/>
            <a:ext cx="271577" cy="1097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242194" y="3063240"/>
            <a:ext cx="49378" cy="54864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291572" y="2660904"/>
            <a:ext cx="24688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316260" y="2331720"/>
            <a:ext cx="24689" cy="32918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42194" y="3611880"/>
            <a:ext cx="271577" cy="18288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513771" y="3355848"/>
            <a:ext cx="123444" cy="4389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37215" y="3026664"/>
            <a:ext cx="74066" cy="32918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711281" y="2734056"/>
            <a:ext cx="49378" cy="29260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921240" y="3794760"/>
            <a:ext cx="592531" cy="13533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859517" y="5086350"/>
            <a:ext cx="123444" cy="123444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480499" y="4736592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233611" y="429768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085478" y="3858768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962034" y="3456432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628632" y="356616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554565" y="3054096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505188" y="265176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9480499" y="2286000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924897" y="3456432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9924897" y="2871216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924897" y="246888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9924897" y="2066544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196474" y="356616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0245852" y="301752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0270540" y="2615184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0295229" y="2286000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0468051" y="374904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0591495" y="3310128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0665561" y="2980944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714939" y="2688336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DESCRIPCIÓN DE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Landmarks, no video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59649" y="1755648"/>
            <a:ext cx="4013053" cy="4498848"/>
          </a:xfrm>
          <a:prstGeom prst="roundRect">
            <a:avLst>
              <a:gd name="adj" fmla="val 3189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01_landmarks_un_cuad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681" y="2011680"/>
            <a:ext cx="3500989" cy="35374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15681" y="5658865"/>
            <a:ext cx="3500989" cy="4493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1. Landmarks de un cuadro real: rostro, pose y mano derecha.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3086100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3022092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MediaPipe convierte cada cuadro de video en puntos con coordenadas x, y, z.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726180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3662172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468 puntos de rostro, 33 de pose y 21 por cada mano.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366260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302252"/>
            <a:ext cx="3803904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Se entregan coordenadas y no video por privacidad, por tamaño (158 GB) y para no aprender el fondo ni la iluminación.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DESCRIPCIÓN DE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Estructura del conjunto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2560320" cy="1645920"/>
          </a:xfrm>
          <a:prstGeom prst="roundRect">
            <a:avLst>
              <a:gd name="adj" fmla="val 6666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2011679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0B7A70"/>
                </a:solidFill>
                <a:latin typeface="Calibri"/>
              </a:rPr>
              <a:t>67,208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1E1A3C"/>
                </a:solidFill>
                <a:latin typeface="Calibri"/>
              </a:rPr>
              <a:t>secuencias en train.csv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9856" y="1783080"/>
            <a:ext cx="2560320" cy="1645920"/>
          </a:xfrm>
          <a:prstGeom prst="roundRect">
            <a:avLst>
              <a:gd name="adj" fmla="val 6666"/>
            </a:avLst>
          </a:prstGeom>
          <a:solidFill>
            <a:srgbClr val="FF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94176" y="1984248"/>
            <a:ext cx="2011679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D6432A"/>
                </a:solidFill>
                <a:latin typeface="Calibri"/>
              </a:rPr>
              <a:t>5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1E1A3C"/>
                </a:solidFill>
                <a:latin typeface="Calibri"/>
              </a:rPr>
              <a:t>columnas en train.csv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783080"/>
            <a:ext cx="2560320" cy="1645920"/>
          </a:xfrm>
          <a:prstGeom prst="roundRect">
            <a:avLst>
              <a:gd name="adj" fmla="val 6666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73952" y="1984248"/>
            <a:ext cx="2011679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8A5E00"/>
                </a:solidFill>
                <a:latin typeface="Calibri"/>
              </a:rPr>
              <a:t>94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1E1A3C"/>
                </a:solidFill>
                <a:latin typeface="Calibri"/>
              </a:rPr>
              <a:t>participantes distintos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8" y="1783080"/>
            <a:ext cx="2560320" cy="1645920"/>
          </a:xfrm>
          <a:prstGeom prst="roundRect">
            <a:avLst>
              <a:gd name="adj" fmla="val 6666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253728" y="1984248"/>
            <a:ext cx="2011679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0B7A70"/>
                </a:solidFill>
                <a:latin typeface="Calibri"/>
              </a:rPr>
              <a:t>1,630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1E1A3C"/>
                </a:solidFill>
                <a:latin typeface="Calibri"/>
              </a:rPr>
              <a:t>columnas por cuadro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858768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50976" y="3794760"/>
            <a:ext cx="10600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train.csv trae una fila por secuencia; los landmarks vienen aparte, en archivos parquet.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325112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4261104"/>
            <a:ext cx="10600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Cada parquet trae cerca de 1,000 secuencias, indexadas por sequence_id, que es el índice de la tabla y no una columna.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791456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727448"/>
            <a:ext cx="10600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La participación es despareja: de 1 a 1,535 secuencias por persona, con mediana de 794.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5257800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0976" y="5193792"/>
            <a:ext cx="10600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Trabajamos con una muestra fija de dos archivos de landmarks, de alrededor de 1.5 GB cada uno.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DESCRIPCIÓN DE LAS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Variables disponibles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5564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A6590"/>
                </a:solidFill>
                <a:latin typeface="Calibri"/>
              </a:rPr>
              <a:t>VARIABLE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755648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A6590"/>
                </a:solidFill>
                <a:latin typeface="Calibri"/>
              </a:rPr>
              <a:t>TIPO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755648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A6590"/>
                </a:solidFill>
                <a:latin typeface="Calibri"/>
              </a:rPr>
              <a:t>DESCRIPCIÓN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A3C"/>
                </a:solidFill>
                <a:latin typeface="Calibri"/>
              </a:rPr>
              <a:t>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1645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B7A70"/>
                </a:solidFill>
                <a:latin typeface="Calibri"/>
              </a:rPr>
              <a:t>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103120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Ruta al archivo de landmarks de esa secuencia.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06624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EE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706624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A3C"/>
                </a:solidFill>
                <a:latin typeface="Calibri"/>
              </a:rPr>
              <a:t>phrase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706624"/>
            <a:ext cx="1645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B7A70"/>
                </a:solidFill>
                <a:latin typeface="Calibri"/>
              </a:rPr>
              <a:t>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706624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Frase deletreada: de 1 a 31 caracteres, mediana de 17.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10128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310128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A3C"/>
                </a:solidFill>
                <a:latin typeface="Calibri"/>
              </a:rPr>
              <a:t>file_id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310128"/>
            <a:ext cx="1645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B7A70"/>
                </a:solidFill>
                <a:latin typeface="Calibri"/>
              </a:rPr>
              <a:t>entero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310128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Identificador del archivo parquet.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13631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EE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3913631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A3C"/>
                </a:solidFill>
                <a:latin typeface="Calibri"/>
              </a:rPr>
              <a:t>sequence_id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913631"/>
            <a:ext cx="1645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B7A70"/>
                </a:solidFill>
                <a:latin typeface="Calibri"/>
              </a:rPr>
              <a:t>entero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913631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Identificador de la secuencia; es el índice del parquet.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17136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4517136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A3C"/>
                </a:solidFill>
                <a:latin typeface="Calibri"/>
              </a:rPr>
              <a:t>participant_id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517136"/>
            <a:ext cx="1645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B7A70"/>
                </a:solidFill>
                <a:latin typeface="Calibri"/>
              </a:rPr>
              <a:t>entero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517136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Identificador de la persona que deletrea: 94 en total.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230368"/>
            <a:ext cx="10911535" cy="1051560"/>
          </a:xfrm>
          <a:prstGeom prst="roundRect">
            <a:avLst>
              <a:gd name="adj" fmla="val 10434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60119" y="5230368"/>
            <a:ext cx="10271455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E1A3C"/>
                </a:solidFill>
                <a:latin typeface="Calibri"/>
              </a:rPr>
              <a:t>Los tres enteros son identificadores: no se pueden promediar.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Por eso el análisis se apoya en tres variables derivadas: longitud de frase, longitud de secuencia y porcentaje de cuadros sin mano detectada.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LIMPIEZA Y PREPROCESAMIENTO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El problema no es suciedad, son detecciones faltantes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69840" y="1755648"/>
            <a:ext cx="6192670" cy="4498848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02_missing_landmarks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872" y="2011680"/>
            <a:ext cx="5680606" cy="3698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25872" y="5819521"/>
            <a:ext cx="5680606" cy="28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2. Proporción de valores faltantes por tipo de landmark.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18588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D6432A"/>
                </a:solidFill>
                <a:latin typeface="Calibri"/>
              </a:rPr>
              <a:t>54.5 %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7695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A6590"/>
                </a:solidFill>
                <a:latin typeface="Calibri"/>
              </a:rPr>
              <a:t>de los cuadros sin mano derecha detectada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68960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362559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El rostro falta en 0.7 % de los cuadros; la mano derecha, en 54.5 %.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32968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265676"/>
            <a:ext cx="3803904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MediaPipe no reporta la mano cuando no la detecta: sale del cuadro, se ocluye o se mueve muy rápido.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19836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513435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El faltante se concentra justo en la parte del cuerpo que más informa sobre el deletreo.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LIMPIEZA Y PREPROCESAMIENTO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Qué hicimos con eso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503066" cy="2514600"/>
          </a:xfrm>
          <a:prstGeom prst="roundRect">
            <a:avLst>
              <a:gd name="adj" fmla="val 4363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688" y="2187194"/>
            <a:ext cx="420624" cy="42062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18719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87194"/>
            <a:ext cx="229605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Forward-fill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08986"/>
            <a:ext cx="2917850" cy="11211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Se arrastra el último valor válido dentro de cada secuencia. No se interpola ni se rellena con ceros: un cero pondría la mano en el origen e inventaría movimiento.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4314" y="1783080"/>
            <a:ext cx="3503066" cy="2514600"/>
          </a:xfrm>
          <a:prstGeom prst="roundRect">
            <a:avLst>
              <a:gd name="adj" fmla="val 4363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36922" y="2404110"/>
            <a:ext cx="420624" cy="420624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36922" y="240411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8714" y="2404110"/>
            <a:ext cx="229605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Menos columnas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922" y="3025902"/>
            <a:ext cx="2917850" cy="687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Se eliminaron los 468 puntos de rostro, que son el 86 % de las columnas y aportan poco al deletreo.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8548" y="1783080"/>
            <a:ext cx="3503066" cy="2514600"/>
          </a:xfrm>
          <a:prstGeom prst="roundRect">
            <a:avLst>
              <a:gd name="adj" fmla="val 4363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41156" y="2295652"/>
            <a:ext cx="420624" cy="420624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41156" y="22956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2948" y="2295652"/>
            <a:ext cx="229605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Secuencias fuera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1156" y="2917444"/>
            <a:ext cx="2917850" cy="904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Se descartan las secuencias con alguna mano detectada en menos del 10 % de sus cuadros: sin mano no hay deletreo que analizar.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90288"/>
            <a:ext cx="10911535" cy="1298448"/>
          </a:xfrm>
          <a:prstGeom prst="roundRect">
            <a:avLst>
              <a:gd name="adj" fmla="val 9859"/>
            </a:avLst>
          </a:prstGeom>
          <a:solidFill>
            <a:srgbClr val="17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05840" y="4590288"/>
            <a:ext cx="4846320" cy="1298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2B5A6"/>
                </a:solidFill>
                <a:latin typeface="Calibri"/>
              </a:rPr>
              <a:t>1,630  →  226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B9B4E0"/>
                </a:solidFill>
                <a:latin typeface="Calibri"/>
              </a:rPr>
              <a:t>columnas por cuadro después de la limpieza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590288"/>
            <a:ext cx="4846320" cy="1298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FB627"/>
                </a:solidFill>
                <a:latin typeface="Calibri"/>
              </a:rPr>
              <a:t>10 %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B9B4E0"/>
                </a:solidFill>
                <a:latin typeface="Calibri"/>
              </a:rPr>
              <a:t>umbral mínimo de cuadros con mano detectada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0574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1">
                <a:solidFill>
                  <a:srgbClr val="12B5A6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59" y="2999232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Análisis exploratorio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406908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B9B4E0"/>
                </a:solidFill>
                <a:latin typeface="Calibri"/>
              </a:rPr>
              <a:t>Univariado, bivariado y multivariado, con los gráficos que lo sostienen.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9526219" y="4782312"/>
            <a:ext cx="395021" cy="36576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9279331" y="4343400"/>
            <a:ext cx="246888" cy="4389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9131198" y="3904487"/>
            <a:ext cx="148133" cy="43891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007754" y="3502152"/>
            <a:ext cx="123444" cy="40233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9674352" y="3611880"/>
            <a:ext cx="246888" cy="153619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600285" y="3099815"/>
            <a:ext cx="74067" cy="51206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9550908" y="2697480"/>
            <a:ext cx="49377" cy="40233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9526219" y="2331720"/>
            <a:ext cx="24689" cy="36576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674352" y="3502152"/>
            <a:ext cx="296265" cy="1097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970617" y="2916936"/>
            <a:ext cx="0" cy="58521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970617" y="2514600"/>
            <a:ext cx="0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970617" y="2112264"/>
            <a:ext cx="0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70617" y="3502152"/>
            <a:ext cx="271577" cy="1097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242194" y="3063240"/>
            <a:ext cx="49378" cy="54864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291572" y="2660904"/>
            <a:ext cx="24688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316260" y="2331720"/>
            <a:ext cx="24689" cy="32918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42194" y="3611880"/>
            <a:ext cx="271577" cy="18288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513771" y="3355848"/>
            <a:ext cx="123444" cy="4389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37215" y="3026664"/>
            <a:ext cx="74066" cy="32918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711281" y="2734056"/>
            <a:ext cx="49378" cy="29260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921240" y="3794760"/>
            <a:ext cx="592531" cy="13533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859517" y="5086350"/>
            <a:ext cx="123444" cy="123444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480499" y="4736592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233611" y="429768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085478" y="3858768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962034" y="3456432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628632" y="356616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554565" y="3054096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505188" y="265176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9480499" y="2286000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924897" y="3456432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9924897" y="2871216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924897" y="246888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9924897" y="2066544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196474" y="356616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0245852" y="301752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0270540" y="2615184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0295229" y="2286000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0468051" y="374904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0591495" y="3310128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0665561" y="2980944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714939" y="2688336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ANÁLISIS UNIVARIADO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Longitud de frase: acotada y estable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06482" y="1755648"/>
            <a:ext cx="6119386" cy="4498848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hist_phrase_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514" y="2011680"/>
            <a:ext cx="5607322" cy="3698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62514" y="5819521"/>
            <a:ext cx="5607322" cy="28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3. Distribución de la longitud de frase sobre las 67,208 secuencias.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32888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D6432A"/>
                </a:solidFill>
                <a:latin typeface="Calibri"/>
              </a:rPr>
              <a:t>17.8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9125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A6590"/>
                </a:solidFill>
                <a:latin typeface="Calibri"/>
              </a:rPr>
              <a:t>caracteres en promedio por frase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80390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373989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De 1 a 31 caracteres, con media de 17.8 y mediana de 17.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44398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37997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Distribución casi simétrica, con una moda marcada en 12 caracteres.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08406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502005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El tope de 31 parece un límite de diseño de las frases, no algo propio del lenguaje.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ANÁLISIS UNIVARIADO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Longitud de secuencia: variable y sesgada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74481" y="1755648"/>
            <a:ext cx="5983388" cy="4498848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hist_seq_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513" y="2011680"/>
            <a:ext cx="5471324" cy="3698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30513" y="5819521"/>
            <a:ext cx="5471324" cy="28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4. Distribución de la longitud de secuencia, con sesgo a la derecha.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47188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D6432A"/>
                </a:solidFill>
                <a:latin typeface="Calibri"/>
              </a:rPr>
              <a:t>147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0555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A6590"/>
                </a:solidFill>
                <a:latin typeface="Calibri"/>
              </a:rPr>
              <a:t>cuadros de mediana por secuencia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91820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3854196"/>
            <a:ext cx="380390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Media de 160.8 cuadros y mediana de 147.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32968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26567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Cola larga hacia la derecha que llega hasta 751 cuadros, con asimetría de 1.09.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96976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490575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El porcentaje de cuadros sin mano detectada promedia 44.8 %, con mediana de 42.9 %.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ANÁLISIS UNIVARIADO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Un alfabeto pequeño y muy desbalanceado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83946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50976" y="1783080"/>
            <a:ext cx="3082442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En las frases aparecen 59 símbolos distintos.</a:t>
            </a:r>
          </a:p>
        </p:txBody>
      </p:sp>
      <p:sp>
        <p:nvSpPr>
          <p:cNvPr id="6" name="Oval 5"/>
          <p:cNvSpPr/>
          <p:nvPr/>
        </p:nvSpPr>
        <p:spPr>
          <a:xfrm>
            <a:off x="4417466" y="183946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710074" y="1783080"/>
            <a:ext cx="3082442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61.2 % letras, 24.6 % dígitos, 4.9 % espacios y 9.3 % otros símbolos.</a:t>
            </a:r>
          </a:p>
        </p:txBody>
      </p:sp>
      <p:sp>
        <p:nvSpPr>
          <p:cNvPr id="8" name="Oval 7"/>
          <p:cNvSpPr/>
          <p:nvPr/>
        </p:nvSpPr>
        <p:spPr>
          <a:xfrm>
            <a:off x="8176564" y="183946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69172" y="1783080"/>
            <a:ext cx="3082442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e, a, o, r, n y t concentran la mayoría; j, q y z casi no tienen muestras.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58676" y="2670048"/>
            <a:ext cx="6674342" cy="3639312"/>
          </a:xfrm>
          <a:prstGeom prst="roundRect">
            <a:avLst>
              <a:gd name="adj" fmla="val 3517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bar_char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708" y="2926080"/>
            <a:ext cx="6162278" cy="28385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14708" y="5874385"/>
            <a:ext cx="6162278" cy="28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5. Frecuencia absoluta de cada carácter en las frases objetivo.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ANÁLISIS BIVARIADO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A mayor frase, secuencias más largas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9446" y="1755648"/>
            <a:ext cx="5733458" cy="4498848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catter_seq_vs_phr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478" y="2011680"/>
            <a:ext cx="5221394" cy="3698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55478" y="5819521"/>
            <a:ext cx="5221394" cy="28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6. Longitud de frase contra longitud de secuencia, con línea de tendencia.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32888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D6432A"/>
                </a:solidFill>
                <a:latin typeface="Calibri"/>
              </a:rPr>
              <a:t>r = 0.60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9125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A6590"/>
                </a:solidFill>
                <a:latin typeface="Calibri"/>
              </a:rPr>
              <a:t>correlación de Pearson entre frase y secuencia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80390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373989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Correlación positiva y moderada entre longitud de frase y longitud de secuencia.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44398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37997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No es una relación estricta: para la misma frase hay duraciones muy distintas.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084064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5020056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La velocidad de deletreo cambia de una persona a otra.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ANÁLISIS BIVARIADO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Cada quien deletrea a su ritmo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83946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50976" y="1783080"/>
            <a:ext cx="3082442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Las medianas por participante van de 75 a 241 cuadros.</a:t>
            </a:r>
          </a:p>
        </p:txBody>
      </p:sp>
      <p:sp>
        <p:nvSpPr>
          <p:cNvPr id="6" name="Oval 5"/>
          <p:cNvSpPr/>
          <p:nvPr/>
        </p:nvSpPr>
        <p:spPr>
          <a:xfrm>
            <a:off x="4417466" y="183946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710074" y="1783080"/>
            <a:ext cx="3082442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La mediana global de la muestra es de 147 cuadros.</a:t>
            </a:r>
          </a:p>
        </p:txBody>
      </p:sp>
      <p:sp>
        <p:nvSpPr>
          <p:cNvPr id="8" name="Oval 7"/>
          <p:cNvSpPr/>
          <p:nvPr/>
        </p:nvSpPr>
        <p:spPr>
          <a:xfrm>
            <a:off x="8176564" y="1839467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69172" y="1783080"/>
            <a:ext cx="3082442" cy="481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1A3C"/>
                </a:solidFill>
                <a:latin typeface="Calibri"/>
              </a:rPr>
              <a:t>Hay estilos de deletreo claramente más rápidos y más lentos.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9380" y="2670048"/>
            <a:ext cx="6112933" cy="3639312"/>
          </a:xfrm>
          <a:prstGeom prst="roundRect">
            <a:avLst>
              <a:gd name="adj" fmla="val 3517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box_seq_len_by_particip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412" y="2926080"/>
            <a:ext cx="5600869" cy="28385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95412" y="5874385"/>
            <a:ext cx="5600869" cy="28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7. Longitud de secuencia por participante, contra la mediana global de 147 cuadros.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ANÁLISIS MULTIVARIADO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Correlaciones y valores atípicos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76473" y="1755648"/>
            <a:ext cx="5385245" cy="4498848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heatmap_corre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505" y="2011680"/>
            <a:ext cx="4873181" cy="3698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32505" y="5819521"/>
            <a:ext cx="4873181" cy="28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8. Matriz de correlación de las tres variables derivadas.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074920" cy="768096"/>
          </a:xfrm>
          <a:prstGeom prst="roundRect">
            <a:avLst>
              <a:gd name="adj" fmla="val 11904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3716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0B7A70"/>
                </a:solidFill>
                <a:latin typeface="Calibri"/>
              </a:rPr>
              <a:t>0.60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783080"/>
            <a:ext cx="32004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E1A3C"/>
                </a:solidFill>
                <a:latin typeface="Calibri"/>
              </a:rPr>
              <a:t>Longitud de frase y longitud de secuencia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79191"/>
            <a:ext cx="5074920" cy="768096"/>
          </a:xfrm>
          <a:prstGeom prst="roundRect">
            <a:avLst>
              <a:gd name="adj" fmla="val 11904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2679191"/>
            <a:ext cx="13716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8A5E00"/>
                </a:solidFill>
                <a:latin typeface="Calibri"/>
              </a:rPr>
              <a:t>-0.19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679191"/>
            <a:ext cx="32004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E1A3C"/>
                </a:solidFill>
                <a:latin typeface="Calibri"/>
              </a:rPr>
              <a:t>Landmarks faltantes y longitud de secuencia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75304"/>
            <a:ext cx="5074920" cy="768096"/>
          </a:xfrm>
          <a:prstGeom prst="roundRect">
            <a:avLst>
              <a:gd name="adj" fmla="val 11904"/>
            </a:avLst>
          </a:prstGeom>
          <a:solidFill>
            <a:srgbClr val="EE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3575304"/>
            <a:ext cx="13716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6A6590"/>
                </a:solidFill>
                <a:latin typeface="Calibri"/>
              </a:rPr>
              <a:t>-0.01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575304"/>
            <a:ext cx="32004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E1A3C"/>
                </a:solidFill>
                <a:latin typeface="Calibri"/>
              </a:rPr>
              <a:t>Longitud de frase y landmarks faltantes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98848"/>
            <a:ext cx="5074920" cy="1755648"/>
          </a:xfrm>
          <a:prstGeom prst="roundRect">
            <a:avLst>
              <a:gd name="adj" fmla="val 6250"/>
            </a:avLst>
          </a:prstGeom>
          <a:solidFill>
            <a:srgbClr val="17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19" y="4645152"/>
            <a:ext cx="4434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3000" b="1">
                <a:solidFill>
                  <a:srgbClr val="FF6B57"/>
                </a:solidFill>
                <a:latin typeface="Calibri"/>
              </a:rPr>
              <a:t>28 de 998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B9B4E0"/>
                </a:solidFill>
                <a:latin typeface="Calibri"/>
              </a:rPr>
              <a:t>secuencias atípicas (cerca del 3 %) con el criterio de 1.5 × IQR. Los límites normales son 0 a 359 cuadros y 0 a 37 caracteres: todas las atípicas lo son por largas, ninguna por corta.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ANÁLISIS EXPLORATORIO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Cómo se mueve una mano al deletrear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6586" y="1755648"/>
            <a:ext cx="5239178" cy="4498848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ample_hand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618" y="2011680"/>
            <a:ext cx="4727114" cy="3698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2618" y="5819521"/>
            <a:ext cx="4727114" cy="28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6590"/>
                </a:solidFill>
                <a:latin typeface="Calibri"/>
              </a:rPr>
              <a:t>Figura 9. Trayectoria 2D de los landmarks de la mano en una secuencia de ejemplo.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3086100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3022092"/>
            <a:ext cx="3803904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Trayectoria en dos dimensiones de los landmarks de la mano a lo largo de una secuencia completa.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954780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3890772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Las zonas densas corresponden a pausas y cambios de forma entre letras.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594860"/>
            <a:ext cx="100584" cy="10058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530852"/>
            <a:ext cx="38039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E1A3C"/>
                </a:solidFill>
                <a:latin typeface="Calibri"/>
              </a:rPr>
              <a:t>Refuerza la idea central: el orden temporal importa tanto como la posición.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0574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1">
                <a:solidFill>
                  <a:srgbClr val="12B5A6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59" y="2999232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Hallazgos y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406908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B9B4E0"/>
                </a:solidFill>
                <a:latin typeface="Calibri"/>
              </a:rPr>
              <a:t>Qué encontramos y qué implica para las siguientes etapas.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9526219" y="4782312"/>
            <a:ext cx="395021" cy="36576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9279331" y="4343400"/>
            <a:ext cx="246888" cy="4389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9131198" y="3904487"/>
            <a:ext cx="148133" cy="43891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007754" y="3502152"/>
            <a:ext cx="123444" cy="40233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9674352" y="3611880"/>
            <a:ext cx="246888" cy="153619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600285" y="3099815"/>
            <a:ext cx="74067" cy="51206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9550908" y="2697480"/>
            <a:ext cx="49377" cy="40233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9526219" y="2331720"/>
            <a:ext cx="24689" cy="36576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674352" y="3502152"/>
            <a:ext cx="296265" cy="1097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970617" y="2916936"/>
            <a:ext cx="0" cy="58521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970617" y="2514600"/>
            <a:ext cx="0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970617" y="2112264"/>
            <a:ext cx="0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70617" y="3502152"/>
            <a:ext cx="271577" cy="10972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242194" y="3063240"/>
            <a:ext cx="49378" cy="54864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291572" y="2660904"/>
            <a:ext cx="24688" cy="402336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316260" y="2331720"/>
            <a:ext cx="24689" cy="32918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42194" y="3611880"/>
            <a:ext cx="271577" cy="182880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513771" y="3355848"/>
            <a:ext cx="123444" cy="4389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37215" y="3026664"/>
            <a:ext cx="74066" cy="32918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711281" y="2734056"/>
            <a:ext cx="49378" cy="29260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921240" y="3794760"/>
            <a:ext cx="592531" cy="135331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859517" y="5086350"/>
            <a:ext cx="123444" cy="123444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480499" y="4736592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233611" y="429768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085478" y="3858768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962034" y="3456432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628632" y="356616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554565" y="3054096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505188" y="265176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9480499" y="2286000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924897" y="3456432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9924897" y="2871216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924897" y="246888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9924897" y="2066544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196474" y="356616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0245852" y="3017520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0270540" y="2615184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0295229" y="2286000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0468051" y="3749040"/>
            <a:ext cx="91440" cy="9144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0591495" y="3310128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0665561" y="2980944"/>
            <a:ext cx="91440" cy="91440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714939" y="2688336"/>
            <a:ext cx="91440" cy="91440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HALLAZGOS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Lo que encontramos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32775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688" y="2407412"/>
            <a:ext cx="420624" cy="42062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40741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07412"/>
            <a:ext cx="412074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Faltan justo las manos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029204"/>
            <a:ext cx="4742535" cy="470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El rostro falta en 0.7 % de los cuadros y la mano derecha en 54.5 %: el problema se concentra en la región más informativa.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1874519"/>
            <a:ext cx="532775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516471" y="2407412"/>
            <a:ext cx="420624" cy="420624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6471" y="240741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8263" y="2407412"/>
            <a:ext cx="412074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Desbalance doble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471" y="3029204"/>
            <a:ext cx="4742535" cy="470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94 participantes con entre 1 y 1,535 secuencias, y 59 caracteres donde unas pocas letras dominan.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33672"/>
            <a:ext cx="532775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32688" y="4766564"/>
            <a:ext cx="420624" cy="420624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76656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66564"/>
            <a:ext cx="412074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Entrada variable, salida estable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388355"/>
            <a:ext cx="4742535" cy="470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La secuencia va de decenas a más de 700 cuadros; la frase se queda entre 1 y 31 caracteres.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4233672"/>
            <a:ext cx="5327751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77800" dist="50800" dir="5400000" rotWithShape="0">
              <a:srgbClr val="1E1A3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516471" y="4766564"/>
            <a:ext cx="420624" cy="420624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16471" y="476656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8263" y="4766564"/>
            <a:ext cx="412074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E1A3C"/>
                </a:solidFill>
                <a:latin typeface="Calibri"/>
              </a:rPr>
              <a:t>Una sola relación fuerte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6471" y="5388355"/>
            <a:ext cx="4742535" cy="470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6A6590"/>
                </a:solidFill>
                <a:latin typeface="Calibri"/>
              </a:rPr>
              <a:t>r = 0.60 entre frase y secuencia. Los demás cruces son débiles o prácticamente nulos.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7A70"/>
                </a:solidFill>
                <a:latin typeface="Calibri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E1A3C"/>
                </a:solidFill>
                <a:latin typeface="Calibri"/>
              </a:rPr>
              <a:t>Próximos pasos para el modelado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384048" cy="38404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1874519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Tratar los faltantes con forward-fill, nunca con ceros ni interpolación.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87752"/>
            <a:ext cx="384048" cy="384048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25877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2587752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Descartar las columnas de rostro: 86 % de las columnas y poco aporte al deletreo.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00984"/>
            <a:ext cx="384048" cy="384048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33009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3300984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Separar entrenamiento y validación por participante, no al azar.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14215"/>
            <a:ext cx="384048" cy="38404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401421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4014215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Aceptar secuencias de longitud variable, con recorte o relleno.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727448"/>
            <a:ext cx="384048" cy="384048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" y="47274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4727448"/>
            <a:ext cx="103080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E1A3C"/>
                </a:solidFill>
                <a:latin typeface="Calibri"/>
              </a:rPr>
              <a:t>Reportar el desempeño por carácter y no solo el promedio general.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623560"/>
            <a:ext cx="10911535" cy="685800"/>
          </a:xfrm>
          <a:prstGeom prst="roundRect">
            <a:avLst>
              <a:gd name="adj" fmla="val 16000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0119" y="5623560"/>
            <a:ext cx="1027145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0B7A70"/>
                </a:solidFill>
                <a:latin typeface="Calibri"/>
              </a:rPr>
              <a:t>El entrenamiento y la evaluación de un modelo de transcripción quedan fuera del alcance de esta fase.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24028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429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B9B4E0"/>
                </a:solidFill>
                <a:latin typeface="Calibri"/>
              </a:rPr>
              <a:t>Preguntas y comentarios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4343400"/>
            <a:ext cx="7315200" cy="868680"/>
          </a:xfrm>
          <a:prstGeom prst="roundRect">
            <a:avLst>
              <a:gd name="adj" fmla="val 12631"/>
            </a:avLst>
          </a:prstGeom>
          <a:solidFill>
            <a:srgbClr val="271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88720" y="4343400"/>
            <a:ext cx="6675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2B5A6"/>
                </a:solidFill>
                <a:latin typeface="Calibri"/>
              </a:rPr>
              <a:t>REPOSITORIO DEL PROYECTO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github.com/DufreyM/CC3084-Proyecto2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9588398" y="5078577"/>
            <a:ext cx="424282" cy="38404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9323222" y="4617720"/>
            <a:ext cx="265176" cy="460857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164116" y="4156862"/>
            <a:ext cx="159106" cy="46085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9031528" y="3734409"/>
            <a:ext cx="132588" cy="42245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747504" y="3849624"/>
            <a:ext cx="265176" cy="1613001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9667951" y="3311956"/>
            <a:ext cx="79553" cy="53766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9614916" y="2889504"/>
            <a:ext cx="53035" cy="42245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588398" y="2505456"/>
            <a:ext cx="26518" cy="38404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747504" y="3734409"/>
            <a:ext cx="318211" cy="11521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065715" y="3119932"/>
            <a:ext cx="0" cy="614477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065715" y="2697480"/>
            <a:ext cx="0" cy="42245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065715" y="2275027"/>
            <a:ext cx="0" cy="42245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65715" y="3734409"/>
            <a:ext cx="291693" cy="115215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357408" y="3273552"/>
            <a:ext cx="53036" cy="576072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410444" y="2851099"/>
            <a:ext cx="26517" cy="42245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436961" y="2505456"/>
            <a:ext cx="26518" cy="34564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57408" y="3849624"/>
            <a:ext cx="291694" cy="192024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49102" y="3580790"/>
            <a:ext cx="132588" cy="460858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781690" y="3235147"/>
            <a:ext cx="79553" cy="345643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861243" y="2927908"/>
            <a:ext cx="53035" cy="307239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012680" y="4041648"/>
            <a:ext cx="636422" cy="1420977"/>
          </a:xfrm>
          <a:prstGeom prst="line">
            <a:avLst/>
          </a:prstGeom>
          <a:ln w="19050">
            <a:solidFill>
              <a:srgbClr val="3A2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938613" y="5388559"/>
            <a:ext cx="148132" cy="148132"/>
          </a:xfrm>
          <a:prstGeom prst="ellipse">
            <a:avLst/>
          </a:prstGeom>
          <a:solidFill>
            <a:srgbClr val="F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533534" y="5023713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268358" y="4562856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9109252" y="4101998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976664" y="3679545"/>
            <a:ext cx="109728" cy="10972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692640" y="3794760"/>
            <a:ext cx="109728" cy="109728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613087" y="3257092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9560052" y="2834640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533534" y="2450592"/>
            <a:ext cx="109728" cy="10972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0010851" y="3679545"/>
            <a:ext cx="109728" cy="109728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0010851" y="3065068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0010851" y="2642616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010851" y="2220163"/>
            <a:ext cx="109728" cy="10972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0302544" y="3794760"/>
            <a:ext cx="109728" cy="109728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0355580" y="3218688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0382097" y="2796235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0408615" y="2450592"/>
            <a:ext cx="109728" cy="10972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0594238" y="3986784"/>
            <a:ext cx="109728" cy="109728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0726826" y="3525926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806379" y="3180283"/>
            <a:ext cx="109728" cy="109728"/>
          </a:xfrm>
          <a:prstGeom prst="ellipse">
            <a:avLst/>
          </a:prstGeom>
          <a:solidFill>
            <a:srgbClr val="8F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10859414" y="2873044"/>
            <a:ext cx="109728" cy="109728"/>
          </a:xfrm>
          <a:prstGeom prst="ellipse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