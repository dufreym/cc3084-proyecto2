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548640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A6A4"/>
                </a:solidFill>
                <a:latin typeface="Calibri"/>
              </a:rPr>
              <a:t>PROYECTO 2 ·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Reconocimiento de deletreo manual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en lenguaje de señas (ASL Fingerspelling)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8C4D0"/>
                </a:solidFill>
                <a:latin typeface="Calibri"/>
              </a:rPr>
              <a:t>Google · American Sign Language Fingerspelling Recognition (Kaggle,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María José Girón Isidro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Leonardo Dufrey Mejía Mejía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Cindy Mishelle Gualim Perez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Daniela Ramírez de León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José Donado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576072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8A98A8"/>
                </a:solidFill>
                <a:latin typeface="Calibri"/>
              </a:rPr>
              <a:t>CC3084 · Data Science</a:t>
            </a:r>
          </a:p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8A98A8"/>
                </a:solidFill>
                <a:latin typeface="Calibri"/>
              </a:rPr>
              <a:t>Universidad del Valle de Guatemala</a:t>
            </a:r>
          </a:p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8A98A8"/>
                </a:solidFill>
                <a:latin typeface="Calibri"/>
              </a:rPr>
              <a:t>19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¿Qué es el deletreo manual (fingerspelling)?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6692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1B222D"/>
                </a:solidFill>
                <a:latin typeface="Calibri"/>
              </a:rPr>
              <a:t>›  Se deletrea letra por letra lo que no tiene seña propia: nombres, siglas, términos técnicos.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1B222D"/>
                </a:solidFill>
                <a:latin typeface="Calibri"/>
              </a:rPr>
              <a:t>›  Es muy rápido (5-6 letras por segundo) y muy usado: 12-35% del discurso en ASL.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>
                <a:solidFill>
                  <a:srgbClr val="1B222D"/>
                </a:solidFill>
                <a:latin typeface="Calibri"/>
              </a:rPr>
              <a:t>›  Reconocerlo automáticamente es distinto a reconocer señas de palabra completa: el significado depende del movimiento en el tiempo, no solo de la forma de la mano.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645920"/>
            <a:ext cx="23774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755648"/>
            <a:ext cx="2103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5-6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letras por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segundo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645920"/>
            <a:ext cx="23774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1755648"/>
            <a:ext cx="2103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12-35%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del discurso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en ASL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566160"/>
            <a:ext cx="23774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675888"/>
            <a:ext cx="2103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800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participantes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en la muestra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3566160"/>
            <a:ext cx="23774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3675888"/>
            <a:ext cx="2103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67,208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800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secuencias en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train.csv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LOS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Landmarks, no video: así se ven los datos</a:t>
            </a:r>
          </a:p>
        </p:txBody>
      </p:sp>
      <p:pic>
        <p:nvPicPr>
          <p:cNvPr id="7" name="Picture 6" descr="01_landmarks_un_cuad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35" y="1371600"/>
            <a:ext cx="5067849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1737360"/>
            <a:ext cx="56692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650">
                <a:solidFill>
                  <a:srgbClr val="1B222D"/>
                </a:solidFill>
                <a:latin typeface="Calibri"/>
              </a:rPr>
              <a:t>›  MediaPipe convierte cada cuadro de video en puntos (x, y, z): 468 de rostro, 33 de pose y 21 por mano.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650">
                <a:solidFill>
                  <a:srgbClr val="1B222D"/>
                </a:solidFill>
                <a:latin typeface="Calibri"/>
              </a:rPr>
              <a:t>›  Se usan coordenadas y no video por privacidad, tamaño (158 GB el set completo) e invarianza a fondo/iluminación.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650">
                <a:solidFill>
                  <a:srgbClr val="1B222D"/>
                </a:solidFill>
                <a:latin typeface="Calibri"/>
              </a:rPr>
              <a:t>›  En este cuadro real se ve la mano agrupada cerca de la cara, típico en fingerspelling.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DESCRIPCIÓN DE LOS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Estructura del conjunto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train.csv: 67,208 secuencias, 5 columnas (path, phrase, file_id, sequence_id, participant_id).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94 participantes muy desbalanceados: de 1 a 1,535 secuencias por persona (mediana 794).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Cada parquet de landmarks trae ~1,000 secuencias; 1,630 columnas por cuadro.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Frases de 1 a 31 caracteres (mediana 17).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81728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columnas en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train.csv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457200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681728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1,630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562356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columnas por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cuadro de landmarks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681728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62356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participantes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457200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681728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1 - 31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562356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caracteres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por frase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LIMPIEZA Y PREPROCESAMIENTO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El problema no es la suciedad: son detecciones faltantes</a:t>
            </a:r>
          </a:p>
        </p:txBody>
      </p:sp>
      <p:pic>
        <p:nvPicPr>
          <p:cNvPr id="7" name="Picture 6" descr="02_missing_landmark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46078"/>
            <a:ext cx="5486400" cy="35716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691640"/>
            <a:ext cx="530352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>
                <a:solidFill>
                  <a:srgbClr val="1B222D"/>
                </a:solidFill>
                <a:latin typeface="Calibri"/>
              </a:rPr>
              <a:t>›  Rostro y pose casi no faltan; la mano derecha falta en 54.5% de los cuadros en promedio.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>
                <a:solidFill>
                  <a:srgbClr val="1B222D"/>
                </a:solidFill>
                <a:latin typeface="Calibri"/>
              </a:rPr>
              <a:t>›  No es error de captura: es ausencia de detección (mano fuera de cuadro, oclusión, movimiento rápido).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>
                <a:solidFill>
                  <a:srgbClr val="1B222D"/>
                </a:solidFill>
                <a:latin typeface="Calibri"/>
              </a:rPr>
              <a:t>›  Se aplicó forward-fill dentro de cada secuencia (no interpolación, no ceros).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>
                <a:solidFill>
                  <a:srgbClr val="1B222D"/>
                </a:solidFill>
                <a:latin typeface="Calibri"/>
              </a:rPr>
              <a:t>›  Se eliminaron las 468 columnas de rostro (86% de las columnas) y las secuencias con mano detectada en menos del 10% de sus cuadros.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>
                <a:solidFill>
                  <a:srgbClr val="1B222D"/>
                </a:solidFill>
                <a:latin typeface="Calibri"/>
              </a:rPr>
              <a:t>›  De 1,630 columnas se pasó a 226.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ANÁLISIS EXPLORATORIO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Longitud de frase y de secuencia</a:t>
            </a:r>
          </a:p>
        </p:txBody>
      </p:sp>
      <p:pic>
        <p:nvPicPr>
          <p:cNvPr id="7" name="Picture 6" descr="hist_phrase_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6979"/>
            <a:ext cx="5486400" cy="3618362"/>
          </a:xfrm>
          <a:prstGeom prst="rect">
            <a:avLst/>
          </a:prstGeom>
        </p:spPr>
      </p:pic>
      <p:pic>
        <p:nvPicPr>
          <p:cNvPr id="8" name="Picture 7" descr="hist_seq_l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712009"/>
            <a:ext cx="5486400" cy="37083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50">
                <a:solidFill>
                  <a:srgbClr val="1B222D"/>
                </a:solidFill>
                <a:latin typeface="Calibri"/>
              </a:rPr>
              <a:t>›  Frase: 1-31 caracteres, casi simétrica, moda marcada en 12.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50">
                <a:solidFill>
                  <a:srgbClr val="1B222D"/>
                </a:solidFill>
                <a:latin typeface="Calibri"/>
              </a:rPr>
              <a:t>›  Secuencia: sesgada a la derecha, mediana 147 cuadros, cola hasta 751.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ANÁLISIS EXPLORATORIO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A mayor frase, secuencias más largas</a:t>
            </a:r>
          </a:p>
        </p:txBody>
      </p:sp>
      <p:pic>
        <p:nvPicPr>
          <p:cNvPr id="7" name="Picture 6" descr="scatter_seq_vs_phr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3291"/>
            <a:ext cx="6858000" cy="48572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2194560"/>
            <a:ext cx="3566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304288"/>
            <a:ext cx="3291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r = 0.60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35204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correlación de Pearson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frase vs. secuencia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297680"/>
            <a:ext cx="356616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1B222D"/>
                </a:solidFill>
                <a:latin typeface="Calibri"/>
              </a:rPr>
              <a:t>›  Correlación positiva moderada, no estricta.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1B222D"/>
                </a:solidFill>
                <a:latin typeface="Calibri"/>
              </a:rPr>
              <a:t>›  La velocidad de deletreo varía entre personas.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ANÁLISIS EXPLORATORIO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Matriz de correlación</a:t>
            </a:r>
          </a:p>
        </p:txBody>
      </p:sp>
      <p:pic>
        <p:nvPicPr>
          <p:cNvPr id="7" name="Picture 6" descr="heatmap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99145"/>
            <a:ext cx="6675120" cy="5065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2011680"/>
            <a:ext cx="40233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50">
                <a:solidFill>
                  <a:srgbClr val="1B222D"/>
                </a:solidFill>
                <a:latin typeface="Calibri"/>
              </a:rPr>
              <a:t>›  Frase vs. secuencia: r = 0.60 (positiva moderada).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50">
                <a:solidFill>
                  <a:srgbClr val="1B222D"/>
                </a:solidFill>
                <a:latin typeface="Calibri"/>
              </a:rPr>
              <a:t>›  Landmarks faltantes vs. secuencia: r = -0.19 (negativa débil).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50">
                <a:solidFill>
                  <a:srgbClr val="1B222D"/>
                </a:solidFill>
                <a:latin typeface="Calibri"/>
              </a:rPr>
              <a:t>›  Frase vs. landmarks faltantes: r = -0.01 (prácticamente nula).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ANÁLISIS EXPLORATORIO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Diferencias entre participantes</a:t>
            </a:r>
          </a:p>
        </p:txBody>
      </p:sp>
      <p:pic>
        <p:nvPicPr>
          <p:cNvPr id="7" name="Picture 6" descr="box_seq_len_by_particip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039" y="1417320"/>
            <a:ext cx="8299441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>
                <a:solidFill>
                  <a:srgbClr val="1B222D"/>
                </a:solidFill>
                <a:latin typeface="Calibri"/>
              </a:rPr>
              <a:t>›  Las medianas por participante van de ~75 a ~241 cuadros: hay quienes deletrean más rápido o más lento.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ANÁLISIS EXPLORATORIO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Frecuencia de caracteres: alfabeto desbalanceado</a:t>
            </a:r>
          </a:p>
        </p:txBody>
      </p:sp>
      <p:pic>
        <p:nvPicPr>
          <p:cNvPr id="7" name="Picture 6" descr="bar_char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1712"/>
            <a:ext cx="7406640" cy="34117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103120"/>
            <a:ext cx="356616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1B222D"/>
                </a:solidFill>
                <a:latin typeface="Calibri"/>
              </a:rPr>
              <a:t>›  59 símbolos distintos: 61% letras, 25% dígitos, 5% espacios, 9% otros símbolos.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1B222D"/>
                </a:solidFill>
                <a:latin typeface="Calibri"/>
              </a:rPr>
              <a:t>›  e, a, o, r, n, t concentran la mayoría de apariciones.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1B222D"/>
                </a:solidFill>
                <a:latin typeface="Calibri"/>
              </a:rPr>
              <a:t>›  j, q, z y varios símbolos casi no tienen muestras.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ANÁLISIS EXPLORATORIO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Cómo se mueve una mano al deletrear</a:t>
            </a:r>
          </a:p>
        </p:txBody>
      </p:sp>
      <p:pic>
        <p:nvPicPr>
          <p:cNvPr id="7" name="Picture 6" descr="sample_hand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10" y="1371600"/>
            <a:ext cx="6545459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2103120"/>
            <a:ext cx="393192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>
                <a:solidFill>
                  <a:srgbClr val="1B222D"/>
                </a:solidFill>
                <a:latin typeface="Calibri"/>
              </a:rPr>
              <a:t>›  Trayectoria 2D de los landmarks de una mano en una secuencia completa.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>
                <a:solidFill>
                  <a:srgbClr val="1B222D"/>
                </a:solidFill>
                <a:latin typeface="Calibri"/>
              </a:rPr>
              <a:t>›  Se ven zonas donde el trazo se concentra: pausas y cambios de forma entre letras.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>
                <a:solidFill>
                  <a:srgbClr val="1B222D"/>
                </a:solidFill>
                <a:latin typeface="Calibri"/>
              </a:rPr>
              <a:t>›  Refuerza por qué el orden temporal importa tanto como la posición.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2CA6A4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Hallazgos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8C4D0"/>
                </a:solidFill>
                <a:latin typeface="Calibri"/>
              </a:rPr>
              <a:t>Lo que encontramos en el análisis exploratorio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HALLAZGOS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Resumen de hallazgos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Los datos son secuencias de landmarks, no video: 1,630 columnas por cuadro, con la mano derecha ausente en más de la mitad de los cuadros en promedio.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94 participantes y 59 caracteres muy desbalanceados entre sí: cualquier evaluación futura debe separarse por participante y reportarse por carácter.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La longitud de secuencia (147 cuadros de mediana, sesgada a la derecha) no es tan predecible como la longitud de frase; un futuro modelo necesita aceptar longitudes variables.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La correlación frase-secuencia (r = 0.60) es la relación más fuerte encontrada; el resto de cruces son débiles o nulos.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Se detectaron 28 secuencias atípicas (~3%) con el criterio de 1.5·IQR, todas por longitud inusualmente grande.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DEL EDA AL MODELADO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Cada hallazgo se convirtió en una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Landmarks faltantes → forward-fill dentro de la secuencia y máscara de detección de cada mano como entrada.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Rostro con poca información → se usan solo manos (centradas en la muñeca) y pose: 227 valores por cuadro.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Participantes desbalanceados → split por participante: quienes están en prueba nunca se vieron al entrenar.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Secuencias de longitud variable (mediana 147, cola ~750) → recorte a 384 cuadros y reducción temporal en el modelo.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800">
                <a:solidFill>
                  <a:srgbClr val="1B222D"/>
                </a:solidFill>
                <a:latin typeface="Calibri"/>
              </a:rPr>
              <a:t>›  Caracteres desbalanceados → el desempeño se reporta también por carácter.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2CA6A4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Modelado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8C4D0"/>
                </a:solidFill>
                <a:latin typeface="Calibri"/>
              </a:rPr>
              <a:t>Cuatro arquitecturas sobre la misma base de datos y entrenamiento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MODELADO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Base común: misma entrada, mismo split, mismo entrenamiento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85216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50">
                <a:solidFill>
                  <a:srgbClr val="1B222D"/>
                </a:solidFill>
                <a:latin typeface="Calibri"/>
              </a:rPr>
              <a:t>›  Entrada: cada cuadro es un vector de 227 valores (manos y pose normalizadas + máscara de detección).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50">
                <a:solidFill>
                  <a:srgbClr val="1B222D"/>
                </a:solidFill>
                <a:latin typeface="Calibri"/>
              </a:rPr>
              <a:t>›  Etiqueta: la frase completa. La pérdida CTC aprende sola la alineación cuadro-letra.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50">
                <a:solidFill>
                  <a:srgbClr val="1B222D"/>
                </a:solidFill>
                <a:latin typeface="Calibri"/>
              </a:rPr>
              <a:t>›  Mismo loop para todos: AdamW, one-cycle, early stopping por CER de validación, semilla 42.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50">
                <a:solidFill>
                  <a:srgbClr val="1B222D"/>
                </a:solidFill>
                <a:latin typeface="Calibri"/>
              </a:rPr>
              <a:t>›  Métrica principal: CER = ediciones / caracteres reales (la métrica de Kaggle es 1 − CER).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645920"/>
            <a:ext cx="2286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755648"/>
            <a:ext cx="2011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227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8803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valores por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cuadro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645920"/>
            <a:ext cx="2286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1755648"/>
            <a:ext cx="2011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64/14/14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8803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participantes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train / val /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2286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3675888"/>
            <a:ext cx="2011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1,315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800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secuencias de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entrenamiento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3566160"/>
            <a:ext cx="2286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3675888"/>
            <a:ext cx="2011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295 / 268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800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secuencias de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validación / prueba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MODELADO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Los modelos comparados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73352"/>
            <a:ext cx="256032" cy="457200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22D"/>
                </a:solidFill>
                <a:latin typeface="Calibri"/>
              </a:rPr>
              <a:t>CNN-BiGRU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B7C"/>
                </a:solidFill>
                <a:latin typeface="Calibri"/>
              </a:rPr>
              <a:t>Principal · CNN 1D con stride + GRU bidireccional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1848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CA6A4"/>
                </a:solidFill>
                <a:latin typeface="Calibri"/>
              </a:rPr>
              <a:t>CER prueba 0.490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87752"/>
            <a:ext cx="256032" cy="457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22D"/>
                </a:solidFill>
                <a:latin typeface="Calibri"/>
              </a:rPr>
              <a:t>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B7C"/>
                </a:solidFill>
                <a:latin typeface="Calibri"/>
              </a:rPr>
              <a:t>Mayor techo · Conv1d con stride + encoder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53288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F28C28"/>
                </a:solidFill>
                <a:latin typeface="Calibri"/>
              </a:rPr>
              <a:t>CER prueba 0.499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02152"/>
            <a:ext cx="256032" cy="457200"/>
          </a:xfrm>
          <a:prstGeom prst="rect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290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22D"/>
                </a:solidFill>
                <a:latin typeface="Calibri"/>
              </a:rPr>
              <a:t>LSTM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47472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B7C"/>
                </a:solidFill>
                <a:latin typeface="Calibri"/>
              </a:rPr>
              <a:t>Línea base · LSTM unidireccional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44728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 i="0">
                <a:solidFill>
                  <a:srgbClr val="5B6B7C"/>
                </a:solidFill>
                <a:latin typeface="Calibri"/>
              </a:rPr>
              <a:t>pendiente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16552"/>
            <a:ext cx="256032" cy="457200"/>
          </a:xfrm>
          <a:prstGeom prst="rect">
            <a:avLst/>
          </a:prstGeom>
          <a:solidFill>
            <a:srgbClr val="C8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434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22D"/>
                </a:solidFill>
                <a:latin typeface="Calibri"/>
              </a:rPr>
              <a:t>BiLSTM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38912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B7C"/>
                </a:solidFill>
                <a:latin typeface="Calibri"/>
              </a:rPr>
              <a:t>Variante · LSTM bidireccional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36168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 i="0">
                <a:solidFill>
                  <a:srgbClr val="5B6B7C"/>
                </a:solidFill>
                <a:latin typeface="Calibri"/>
              </a:rPr>
              <a:t>pendiente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30952"/>
            <a:ext cx="256032" cy="457200"/>
          </a:xfrm>
          <a:prstGeom prst="rect">
            <a:avLst/>
          </a:prstGeom>
          <a:solidFill>
            <a:srgbClr val="8E6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2578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22D"/>
                </a:solidFill>
                <a:latin typeface="Calibri"/>
              </a:rPr>
              <a:t>GRU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30352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B7C"/>
                </a:solidFill>
                <a:latin typeface="Calibri"/>
              </a:rPr>
              <a:t>Ablación · GRU unidireccional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27608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 i="0">
                <a:solidFill>
                  <a:srgbClr val="5B6B7C"/>
                </a:solidFill>
                <a:latin typeface="Calibri"/>
              </a:rPr>
              <a:t>pendiente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2CA6A4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8C4D0"/>
                </a:solidFill>
                <a:latin typeface="Calibri"/>
              </a:rPr>
              <a:t>Desempeño en prueba: personas que ningún modelo vio al entrenar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CER por modelo</a:t>
            </a:r>
          </a:p>
        </p:txBody>
      </p:sp>
      <p:pic>
        <p:nvPicPr>
          <p:cNvPr id="7" name="Picture 6" descr="presentacion_cer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369"/>
            <a:ext cx="7589519" cy="44505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0" y="1737360"/>
            <a:ext cx="32004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847088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0.490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971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CER en prueba del mejor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modelo (CNN-BiGRU)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749039"/>
            <a:ext cx="32004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3858767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28C28"/>
                </a:solidFill>
                <a:latin typeface="Calibri"/>
              </a:rPr>
              <a:t>51 %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98347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 caracteres correctos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C"/>
                </a:solidFill>
                <a:latin typeface="Calibri"/>
              </a:rPr>
              <a:t>(aprox. 1 − CER)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Costo vs. error</a:t>
            </a:r>
          </a:p>
        </p:txBody>
      </p:sp>
      <p:pic>
        <p:nvPicPr>
          <p:cNvPr id="7" name="Picture 6" descr="presentacion_costo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9077"/>
            <a:ext cx="7589519" cy="4637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828800"/>
            <a:ext cx="356616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>
                <a:solidFill>
                  <a:srgbClr val="1B222D"/>
                </a:solidFill>
                <a:latin typeface="Calibri"/>
              </a:rPr>
              <a:t>›  CNN-BiGRU: 48 min de entrenamiento, 5.3 ms por secuencia.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>
                <a:solidFill>
                  <a:srgbClr val="1B222D"/>
                </a:solidFill>
                <a:latin typeface="Calibri"/>
              </a:rPr>
              <a:t>›  Transformer: 18 min de entrenamiento, 1.8 ms por secuencia.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>
                <a:solidFill>
                  <a:srgbClr val="1B222D"/>
                </a:solidFill>
                <a:latin typeface="Calibri"/>
              </a:rPr>
              <a:t>›  El tamaño de cada burbuja es el número de parámetros.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RESULTADOS ·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CNN-BiGRU: ajuste de hiperparámetros</a:t>
            </a:r>
          </a:p>
        </p:txBody>
      </p:sp>
      <p:pic>
        <p:nvPicPr>
          <p:cNvPr id="7" name="Picture 6" descr="07_cnn_bigru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3929"/>
            <a:ext cx="6949440" cy="39274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737360"/>
            <a:ext cx="402336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Más capacidad (256 canales, 192 unidades) dio el menor CER de validación.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Con stride 4: casi el mismo CER en un tercio del tiempo.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CER validación 0.552 · prueba 0.490.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1.70 M parámetros, 60 épocas.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RESULTADOS · MAYOR TECHO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Transformer: ajuste de hiperparámetros</a:t>
            </a:r>
          </a:p>
        </p:txBody>
      </p:sp>
      <p:pic>
        <p:nvPicPr>
          <p:cNvPr id="7" name="Picture 6" descr="10_transformer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04934"/>
            <a:ext cx="6949440" cy="39454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737360"/>
            <a:ext cx="402336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Lo que acelera el aprendizaje ayudó más (dropout 0.1, lr 0.003) que agregar capas o ancho.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Con stride 4: casi el mismo CER (0.588) en 7.5 min en vez de 18.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Empata con el CNN-BiGRU (Wilcoxon p = 0.21) con 37 % de sus parámetros y 3 veces más rápido al predecir.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CER validación 0.584 · prueba 0.499.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0.63 M parámetros, 60 épocas.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Qué caracteres fallan: el desbalance del EDA se nota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22D"/>
                </a:solidFill>
                <a:latin typeface="Calibri"/>
              </a:rPr>
              <a:t>CNN-BiGRU</a:t>
            </a:r>
          </a:p>
        </p:txBody>
      </p:sp>
      <p:pic>
        <p:nvPicPr>
          <p:cNvPr id="8" name="Picture 7" descr="07_cnn_bigru_error_por_carac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5779"/>
            <a:ext cx="5394960" cy="37294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14173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22D"/>
                </a:solidFill>
                <a:latin typeface="Calibri"/>
              </a:rPr>
              <a:t>Transformer</a:t>
            </a:r>
          </a:p>
        </p:txBody>
      </p:sp>
      <p:pic>
        <p:nvPicPr>
          <p:cNvPr id="10" name="Picture 9" descr="10_transformer_error_por_carac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991297"/>
            <a:ext cx="5394960" cy="36983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B7C"/>
                </a:solidFill>
                <a:latin typeface="Calibri"/>
              </a:rPr>
              <a:t>Los caracteres raros en entrenamiento (q, x, z, j) se fallan casi siempre; la cobertura de mano es lo que más explica el error de cada secuencia.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2CA6A4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La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8C4D0"/>
                </a:solidFill>
                <a:latin typeface="Calibri"/>
              </a:rPr>
              <a:t>Streamlit + Plotly: explorar, predecir y comparar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LA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Predecir: frase real vs. predicha</a:t>
            </a:r>
          </a:p>
        </p:txBody>
      </p:sp>
      <p:pic>
        <p:nvPicPr>
          <p:cNvPr id="7" name="Picture 6" descr="presentacion_app_predec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73357"/>
            <a:ext cx="7680960" cy="37000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28800"/>
            <a:ext cx="338328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Se elige una secuencia de prueba o se sube un parquet de landmarks (se preprocesa igual que en el entrenamiento).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Uno o todos los modelos a la vez.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Cada carácter se colorea según la alineación: correcto, sustituido, insertado u omitido.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LA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Rendimiento: gráficas interactivas</a:t>
            </a:r>
          </a:p>
        </p:txBody>
      </p:sp>
      <p:pic>
        <p:nvPicPr>
          <p:cNvPr id="7" name="Picture 6" descr="presentacion_app_rendi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0" y="1417320"/>
            <a:ext cx="5730559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28800"/>
            <a:ext cx="338328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CER por modelo, curvas de entrenamiento, costo vs. error y error por carácter.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Cada gráfica se puede ocultar; los modelos se filtran en la barra lateral.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>
                <a:solidFill>
                  <a:srgbClr val="1B222D"/>
                </a:solidFill>
                <a:latin typeface="Calibri"/>
              </a:rPr>
              <a:t>›  Un color fijo por modelo en toda la app y en esta presentación.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3200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A6A4"/>
                </a:solidFill>
                <a:latin typeface="Calibri"/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Qué aprendimos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1B222D"/>
                </a:solidFill>
                <a:latin typeface="Calibri"/>
              </a:rPr>
              <a:t>›  Con solo 1,315 secuencias de entrenamiento, los modelos transcriben alrededor del 50 % de los caracteres de personas que no vieron al entrenar.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1B222D"/>
                </a:solidFill>
                <a:latin typeface="Calibri"/>
              </a:rPr>
              <a:t>›  El CNN-BiGRU (CER 0.490) y el Transformer (CER 0.499) empatan en error; el Transformer lo logra con un tercio de los parámetros y del tiempo de predicción.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1B222D"/>
                </a:solidFill>
                <a:latin typeface="Calibri"/>
              </a:rPr>
              <a:t>›  Los hallazgos del EDA explican el error: la cobertura de mano es el factor más fuerte (Spearman ≈ −0.7), y los caracteres raros (q, x, z) se fallan casi siempre.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1B222D"/>
                </a:solidFill>
                <a:latin typeface="Calibri"/>
              </a:rPr>
              <a:t>›  El error dominante es omitir letras (68-76 %), sobre todo espacios y letras frecuentes.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1B222D"/>
                </a:solidFill>
                <a:latin typeface="Calibri"/>
              </a:rPr>
              <a:t>›  El límite lo pone la cantidad de datos, no la arquitectura: la mejora más directa es la aumentación y usar más archivos de la competencia.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B7C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8C4D0"/>
                </a:solidFill>
                <a:latin typeface="Calibri"/>
              </a:rPr>
              <a:t>Preguntas y comentarios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CA6A4"/>
                </a:solidFill>
                <a:latin typeface="Calibri"/>
              </a:rPr>
              <a:t>Repositorio: https://github.com/DufreyM/CC3084-Proyecto2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