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image" Target="../media/image4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A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822960" y="1417320"/>
            <a:ext cx="548640" cy="73152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822960" y="914400"/>
            <a:ext cx="91440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500" b="1" i="0">
                <a:solidFill>
                  <a:srgbClr val="2CA6A4"/>
                </a:solidFill>
                <a:latin typeface="Calibri"/>
              </a:rPr>
              <a:t>PROYECTO 2 · ANÁLISIS EXPLORATORIO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1691640"/>
            <a:ext cx="1024128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Reconocimiento de deletreo manual</a:t>
            </a:r>
          </a:p>
          <a:p>
            <a:pPr algn="l">
              <a:lnSpc>
                <a:spcPct val="105000"/>
              </a:lnSpc>
            </a:pPr>
            <a:r>
              <a:rPr sz="3600" b="1" i="0">
                <a:solidFill>
                  <a:srgbClr val="FFFFFF"/>
                </a:solidFill>
                <a:latin typeface="Calibri"/>
              </a:rPr>
              <a:t>en lenguaje de señas (ASL Fingerspelling)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22960" y="3429000"/>
            <a:ext cx="100584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B8C4D0"/>
                </a:solidFill>
                <a:latin typeface="Calibri"/>
              </a:rPr>
              <a:t>Google · American Sign Language Fingerspelling Recognition (Kaggle, 2023)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4206240"/>
            <a:ext cx="5486400" cy="18288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María José Girón Isidro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Leonardo Dufrey Mejía Mejía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Cindy Mishelle Gualim Perez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Daniela Ramírez de León</a:t>
            </a:r>
          </a:p>
          <a:p>
            <a:pPr algn="l">
              <a:lnSpc>
                <a:spcPct val="135000"/>
              </a:lnSpc>
            </a:pPr>
            <a:r>
              <a:rPr sz="1500" b="0" i="0">
                <a:solidFill>
                  <a:srgbClr val="FFFFFF"/>
                </a:solidFill>
                <a:latin typeface="Calibri"/>
              </a:rPr>
              <a:t>José Donado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412480" y="5760720"/>
            <a:ext cx="3017520" cy="10058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8A98A8"/>
                </a:solidFill>
                <a:latin typeface="Calibri"/>
              </a:rPr>
              <a:t>CC3084 · Data Science</a:t>
            </a:r>
          </a:p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8A98A8"/>
                </a:solidFill>
                <a:latin typeface="Calibri"/>
              </a:rPr>
              <a:t>Universidad del Valle de Guatemala</a:t>
            </a:r>
          </a:p>
          <a:p>
            <a:pPr algn="r">
              <a:lnSpc>
                <a:spcPct val="130000"/>
              </a:lnSpc>
            </a:pPr>
            <a:r>
              <a:rPr sz="1200" b="0" i="0">
                <a:solidFill>
                  <a:srgbClr val="8A98A8"/>
                </a:solidFill>
                <a:latin typeface="Calibri"/>
              </a:rPr>
              <a:t>6 de septiembre de 2026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320040" cy="54864"/>
          </a:xfrm>
          <a:prstGeom prst="rect">
            <a:avLst/>
          </a:prstGeom>
          <a:solidFill>
            <a:srgbClr val="2CA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CA6A4"/>
                </a:solidFill>
                <a:latin typeface="Calibri"/>
              </a:rPr>
              <a:t>CONTEXTO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¿Qué es el deletreo manual (fingerspelling)?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566928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700">
                <a:solidFill>
                  <a:srgbClr val="1B222D"/>
                </a:solidFill>
                <a:latin typeface="Calibri"/>
              </a:rPr>
              <a:t>›  Se deletrea letra por letra lo que no tiene seña propia: nombres, siglas, términos técnicos.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700">
                <a:solidFill>
                  <a:srgbClr val="1B222D"/>
                </a:solidFill>
                <a:latin typeface="Calibri"/>
              </a:rPr>
              <a:t>›  Es muy rápido (5-6 letras por segundo) y muy usado: 12-35% del discurso en ASL.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700">
                <a:solidFill>
                  <a:srgbClr val="1B222D"/>
                </a:solidFill>
                <a:latin typeface="Calibri"/>
              </a:rPr>
              <a:t>›  Reconocerlo automáticamente es distinto a reconocer señas de palabra completa: el significado depende del movimiento en el tiempo, no solo de la forma de la mano.</a:t>
            </a:r>
          </a:p>
        </p:txBody>
      </p:sp>
      <p:sp>
        <p:nvSpPr>
          <p:cNvPr id="8" name="Rectangle 7"/>
          <p:cNvSpPr/>
          <p:nvPr/>
        </p:nvSpPr>
        <p:spPr>
          <a:xfrm>
            <a:off x="6675120" y="1645920"/>
            <a:ext cx="2377440" cy="17373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812280" y="1755648"/>
            <a:ext cx="21031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F28C28"/>
                </a:solidFill>
                <a:latin typeface="Calibri"/>
              </a:rPr>
              <a:t>5-6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766560" y="288036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B6B7C"/>
                </a:solidFill>
                <a:latin typeface="Calibri"/>
              </a:rPr>
              <a:t>letras por</a:t>
            </a:r>
          </a:p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B6B7C"/>
                </a:solidFill>
                <a:latin typeface="Calibri"/>
              </a:rPr>
              <a:t>segundo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235440" y="1645920"/>
            <a:ext cx="2377440" cy="17373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372600" y="1755648"/>
            <a:ext cx="21031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F28C28"/>
                </a:solidFill>
                <a:latin typeface="Calibri"/>
              </a:rPr>
              <a:t>12-35%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326880" y="288036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B6B7C"/>
                </a:solidFill>
                <a:latin typeface="Calibri"/>
              </a:rPr>
              <a:t>del discurso</a:t>
            </a:r>
          </a:p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B6B7C"/>
                </a:solidFill>
                <a:latin typeface="Calibri"/>
              </a:rPr>
              <a:t>en ASL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675120" y="3566160"/>
            <a:ext cx="2377440" cy="17373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812280" y="3675888"/>
            <a:ext cx="21031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F28C28"/>
                </a:solidFill>
                <a:latin typeface="Calibri"/>
              </a:rPr>
              <a:t>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766560" y="48006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B6B7C"/>
                </a:solidFill>
                <a:latin typeface="Calibri"/>
              </a:rPr>
              <a:t>participantes</a:t>
            </a:r>
          </a:p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B6B7C"/>
                </a:solidFill>
                <a:latin typeface="Calibri"/>
              </a:rPr>
              <a:t>en la muestra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235440" y="3566160"/>
            <a:ext cx="2377440" cy="173736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372600" y="3675888"/>
            <a:ext cx="2103120" cy="1051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F28C28"/>
                </a:solidFill>
                <a:latin typeface="Calibri"/>
              </a:rPr>
              <a:t>67,208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326880" y="4800600"/>
            <a:ext cx="21945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B6B7C"/>
                </a:solidFill>
                <a:latin typeface="Calibri"/>
              </a:rPr>
              <a:t>secuencias en</a:t>
            </a:r>
          </a:p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B6B7C"/>
                </a:solidFill>
                <a:latin typeface="Calibri"/>
              </a:rPr>
              <a:t>train.csv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B6B7C"/>
                </a:solidFill>
                <a:latin typeface="Calibri"/>
              </a:rPr>
              <a:t>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320040" cy="54864"/>
          </a:xfrm>
          <a:prstGeom prst="rect">
            <a:avLst/>
          </a:prstGeom>
          <a:solidFill>
            <a:srgbClr val="2CA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CA6A4"/>
                </a:solidFill>
                <a:latin typeface="Calibri"/>
              </a:rPr>
              <a:t>LOS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Landmarks, no video: así se ven los datos</a:t>
            </a:r>
          </a:p>
        </p:txBody>
      </p:sp>
      <p:pic>
        <p:nvPicPr>
          <p:cNvPr id="7" name="Picture 6" descr="01_landmarks_un_cuadr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75035" y="1371600"/>
            <a:ext cx="5067849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943600" y="1737360"/>
            <a:ext cx="5669280" cy="41148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650">
                <a:solidFill>
                  <a:srgbClr val="1B222D"/>
                </a:solidFill>
                <a:latin typeface="Calibri"/>
              </a:rPr>
              <a:t>›  MediaPipe convierte cada cuadro de video en puntos (x, y, z): 468 de rostro, 33 de pose y 21 por mano.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650">
                <a:solidFill>
                  <a:srgbClr val="1B222D"/>
                </a:solidFill>
                <a:latin typeface="Calibri"/>
              </a:rPr>
              <a:t>›  Se usan coordenadas y no video por privacidad, tamaño (158 GB el set completo) e invarianza a fondo/iluminación.</a:t>
            </a:r>
          </a:p>
          <a:p>
            <a:pPr>
              <a:lnSpc>
                <a:spcPct val="108000"/>
              </a:lnSpc>
              <a:spcAft>
                <a:spcPts val="1800"/>
              </a:spcAft>
            </a:pPr>
            <a:r>
              <a:rPr sz="1650">
                <a:solidFill>
                  <a:srgbClr val="1B222D"/>
                </a:solidFill>
                <a:latin typeface="Calibri"/>
              </a:rPr>
              <a:t>›  En este cuadro real se ve la mano agrupada cerca de la cara, típico en fingerspelling.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B6B7C"/>
                </a:solidFill>
                <a:latin typeface="Calibri"/>
              </a:rPr>
              <a:t>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320040" cy="54864"/>
          </a:xfrm>
          <a:prstGeom prst="rect">
            <a:avLst/>
          </a:prstGeom>
          <a:solidFill>
            <a:srgbClr val="2CA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CA6A4"/>
                </a:solidFill>
                <a:latin typeface="Calibri"/>
              </a:rPr>
              <a:t>DESCRIPCIÓN DE LOS DATOS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Estructura del conjunto de datos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600200"/>
            <a:ext cx="1088136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800">
                <a:solidFill>
                  <a:srgbClr val="1B222D"/>
                </a:solidFill>
                <a:latin typeface="Calibri"/>
              </a:rPr>
              <a:t>›  train.csv: 67,208 secuencias, 5 columnas (path, phrase, file_id, sequence_id, participant_id).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800">
                <a:solidFill>
                  <a:srgbClr val="1B222D"/>
                </a:solidFill>
                <a:latin typeface="Calibri"/>
              </a:rPr>
              <a:t>›  94 participantes muy desbalanceados: de 1 a 1,535 secuencias por persona (mediana 794).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800">
                <a:solidFill>
                  <a:srgbClr val="1B222D"/>
                </a:solidFill>
                <a:latin typeface="Calibri"/>
              </a:rPr>
              <a:t>›  Cada parquet de landmarks trae ~1,000 secuencias; 1,630 columnas por cuadro.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800">
                <a:solidFill>
                  <a:srgbClr val="1B222D"/>
                </a:solidFill>
                <a:latin typeface="Calibri"/>
              </a:rPr>
              <a:t>›  Frases de 1 a 31 caracteres (mediana 17).</a:t>
            </a:r>
          </a:p>
        </p:txBody>
      </p:sp>
      <p:sp>
        <p:nvSpPr>
          <p:cNvPr id="8" name="Rectangle 7"/>
          <p:cNvSpPr/>
          <p:nvPr/>
        </p:nvSpPr>
        <p:spPr>
          <a:xfrm>
            <a:off x="640080" y="4572000"/>
            <a:ext cx="2606040" cy="15544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77240" y="4681728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F28C28"/>
                </a:solidFill>
                <a:latin typeface="Calibri"/>
              </a:rPr>
              <a:t>5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5623560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B6B7C"/>
                </a:solidFill>
                <a:latin typeface="Calibri"/>
              </a:rPr>
              <a:t>columnas en</a:t>
            </a:r>
          </a:p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B6B7C"/>
                </a:solidFill>
                <a:latin typeface="Calibri"/>
              </a:rPr>
              <a:t>train.csv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29000" y="4572000"/>
            <a:ext cx="2606040" cy="15544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3566160" y="4681728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F28C28"/>
                </a:solidFill>
                <a:latin typeface="Calibri"/>
              </a:rPr>
              <a:t>1,630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5623560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B6B7C"/>
                </a:solidFill>
                <a:latin typeface="Calibri"/>
              </a:rPr>
              <a:t>columnas por</a:t>
            </a:r>
          </a:p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B6B7C"/>
                </a:solidFill>
                <a:latin typeface="Calibri"/>
              </a:rPr>
              <a:t>cuadro de landmarks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217920" y="4572000"/>
            <a:ext cx="2606040" cy="15544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55080" y="4681728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F28C28"/>
                </a:solidFill>
                <a:latin typeface="Calibri"/>
              </a:rPr>
              <a:t>94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60" y="5623560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B6B7C"/>
                </a:solidFill>
                <a:latin typeface="Calibri"/>
              </a:rPr>
              <a:t>participantes</a:t>
            </a:r>
          </a:p>
        </p:txBody>
      </p:sp>
      <p:sp>
        <p:nvSpPr>
          <p:cNvPr id="17" name="Rectangle 16"/>
          <p:cNvSpPr/>
          <p:nvPr/>
        </p:nvSpPr>
        <p:spPr>
          <a:xfrm>
            <a:off x="9006840" y="4572000"/>
            <a:ext cx="2606040" cy="155448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0" y="4681728"/>
            <a:ext cx="2331720" cy="868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F28C28"/>
                </a:solidFill>
                <a:latin typeface="Calibri"/>
              </a:rPr>
              <a:t>1 - 31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9098280" y="5623560"/>
            <a:ext cx="242316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B6B7C"/>
                </a:solidFill>
                <a:latin typeface="Calibri"/>
              </a:rPr>
              <a:t>caracteres</a:t>
            </a:r>
          </a:p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B6B7C"/>
                </a:solidFill>
                <a:latin typeface="Calibri"/>
              </a:rPr>
              <a:t>por frase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B6B7C"/>
                </a:solidFill>
                <a:latin typeface="Calibri"/>
              </a:rPr>
              <a:t>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320040" cy="54864"/>
          </a:xfrm>
          <a:prstGeom prst="rect">
            <a:avLst/>
          </a:prstGeom>
          <a:solidFill>
            <a:srgbClr val="2CA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CA6A4"/>
                </a:solidFill>
                <a:latin typeface="Calibri"/>
              </a:rPr>
              <a:t>LIMPIEZA Y PREPROCESAMIENTO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El problema no es la suciedad: son detecciones faltantes</a:t>
            </a:r>
          </a:p>
        </p:txBody>
      </p:sp>
      <p:pic>
        <p:nvPicPr>
          <p:cNvPr id="7" name="Picture 6" descr="02_missing_landmarks_boxplo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2146078"/>
            <a:ext cx="5486400" cy="3571683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1691640"/>
            <a:ext cx="5303520" cy="475488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600">
                <a:solidFill>
                  <a:srgbClr val="1B222D"/>
                </a:solidFill>
                <a:latin typeface="Calibri"/>
              </a:rPr>
              <a:t>›  Rostro y pose casi no faltan; la mano derecha falta en 54.5% de los cuadros en promedio.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600">
                <a:solidFill>
                  <a:srgbClr val="1B222D"/>
                </a:solidFill>
                <a:latin typeface="Calibri"/>
              </a:rPr>
              <a:t>›  No es error de captura: es ausencia de detección (mano fuera de cuadro, oclusión, movimiento rápido).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600">
                <a:solidFill>
                  <a:srgbClr val="1B222D"/>
                </a:solidFill>
                <a:latin typeface="Calibri"/>
              </a:rPr>
              <a:t>›  Se aplicó forward-fill dentro de cada secuencia (no interpolación, no ceros).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600">
                <a:solidFill>
                  <a:srgbClr val="1B222D"/>
                </a:solidFill>
                <a:latin typeface="Calibri"/>
              </a:rPr>
              <a:t>›  Se eliminaron las 468 columnas de rostro (86% de las columnas) y las secuencias con mano detectada en menos del 10% de sus cuadros.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600">
                <a:solidFill>
                  <a:srgbClr val="1B222D"/>
                </a:solidFill>
                <a:latin typeface="Calibri"/>
              </a:rPr>
              <a:t>›  De 1,630 columnas se pasó a 226.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B6B7C"/>
                </a:solidFill>
                <a:latin typeface="Calibri"/>
              </a:rPr>
              <a:t>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320040" cy="54864"/>
          </a:xfrm>
          <a:prstGeom prst="rect">
            <a:avLst/>
          </a:prstGeom>
          <a:solidFill>
            <a:srgbClr val="2CA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CA6A4"/>
                </a:solidFill>
                <a:latin typeface="Calibri"/>
              </a:rPr>
              <a:t>ANÁLISIS EXPLORATORIO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Longitud de frase y de secuencia</a:t>
            </a:r>
          </a:p>
        </p:txBody>
      </p:sp>
      <p:pic>
        <p:nvPicPr>
          <p:cNvPr id="7" name="Picture 6" descr="hist_phrase_le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756979"/>
            <a:ext cx="5486400" cy="3618362"/>
          </a:xfrm>
          <a:prstGeom prst="rect">
            <a:avLst/>
          </a:prstGeom>
        </p:spPr>
      </p:pic>
      <p:pic>
        <p:nvPicPr>
          <p:cNvPr id="8" name="Picture 7" descr="hist_seq_le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126480" y="1712009"/>
            <a:ext cx="5486400" cy="3708302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550">
                <a:solidFill>
                  <a:srgbClr val="1B222D"/>
                </a:solidFill>
                <a:latin typeface="Calibri"/>
              </a:rPr>
              <a:t>›  Frase: 1-31 caracteres, casi simétrica, moda marcada en 12.</a:t>
            </a:r>
          </a:p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550">
                <a:solidFill>
                  <a:srgbClr val="1B222D"/>
                </a:solidFill>
                <a:latin typeface="Calibri"/>
              </a:rPr>
              <a:t>›  Secuencia: sesgada a la derecha, mediana 147 cuadros, cola hasta 751.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B6B7C"/>
                </a:solidFill>
                <a:latin typeface="Calibri"/>
              </a:rPr>
              <a:t>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320040" cy="54864"/>
          </a:xfrm>
          <a:prstGeom prst="rect">
            <a:avLst/>
          </a:prstGeom>
          <a:solidFill>
            <a:srgbClr val="2CA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CA6A4"/>
                </a:solidFill>
                <a:latin typeface="Calibri"/>
              </a:rPr>
              <a:t>ANÁLISIS EXPLORATORIO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A mayor frase, secuencias más largas</a:t>
            </a:r>
          </a:p>
        </p:txBody>
      </p:sp>
      <p:pic>
        <p:nvPicPr>
          <p:cNvPr id="7" name="Picture 6" descr="scatter_seq_vs_phras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503291"/>
            <a:ext cx="6858000" cy="4857258"/>
          </a:xfrm>
          <a:prstGeom prst="rect">
            <a:avLst/>
          </a:prstGeom>
        </p:spPr>
      </p:pic>
      <p:sp>
        <p:nvSpPr>
          <p:cNvPr id="8" name="Rectangle 7"/>
          <p:cNvSpPr/>
          <p:nvPr/>
        </p:nvSpPr>
        <p:spPr>
          <a:xfrm>
            <a:off x="7863840" y="2194560"/>
            <a:ext cx="3566160" cy="1828800"/>
          </a:xfrm>
          <a:prstGeom prst="rect">
            <a:avLst/>
          </a:prstGeom>
          <a:solidFill>
            <a:srgbClr val="FFFFFF"/>
          </a:solidFill>
          <a:ln>
            <a:solidFill>
              <a:srgbClr val="FFFFF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001000" y="2304288"/>
            <a:ext cx="3291840" cy="1143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3000" b="1" i="0">
                <a:solidFill>
                  <a:srgbClr val="F28C28"/>
                </a:solidFill>
                <a:latin typeface="Calibri"/>
              </a:rPr>
              <a:t>r = 0.60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955280" y="3520440"/>
            <a:ext cx="338328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B6B7C"/>
                </a:solidFill>
                <a:latin typeface="Calibri"/>
              </a:rPr>
              <a:t>correlación de Pearson</a:t>
            </a:r>
          </a:p>
          <a:p>
            <a:pPr algn="ctr">
              <a:lnSpc>
                <a:spcPct val="100000"/>
              </a:lnSpc>
            </a:pPr>
            <a:r>
              <a:rPr sz="1150" b="0" i="0">
                <a:solidFill>
                  <a:srgbClr val="5B6B7C"/>
                </a:solidFill>
                <a:latin typeface="Calibri"/>
              </a:rPr>
              <a:t>frase vs. secuencia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863840" y="4297680"/>
            <a:ext cx="3566160" cy="164592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50">
                <a:solidFill>
                  <a:srgbClr val="1B222D"/>
                </a:solidFill>
                <a:latin typeface="Calibri"/>
              </a:rPr>
              <a:t>›  Correlación positiva moderada, no estricta.</a:t>
            </a:r>
          </a:p>
          <a:p>
            <a:pPr>
              <a:lnSpc>
                <a:spcPct val="108000"/>
              </a:lnSpc>
              <a:spcAft>
                <a:spcPts val="1000"/>
              </a:spcAft>
            </a:pPr>
            <a:r>
              <a:rPr sz="1550">
                <a:solidFill>
                  <a:srgbClr val="1B222D"/>
                </a:solidFill>
                <a:latin typeface="Calibri"/>
              </a:rPr>
              <a:t>›  La velocidad de deletreo varía entre personas.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B6B7C"/>
                </a:solidFill>
                <a:latin typeface="Calibri"/>
              </a:rPr>
              <a:t>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320040" cy="54864"/>
          </a:xfrm>
          <a:prstGeom prst="rect">
            <a:avLst/>
          </a:prstGeom>
          <a:solidFill>
            <a:srgbClr val="2CA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CA6A4"/>
                </a:solidFill>
                <a:latin typeface="Calibri"/>
              </a:rPr>
              <a:t>ANÁLISIS EXPLORATORIO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Matriz de correlación</a:t>
            </a:r>
          </a:p>
        </p:txBody>
      </p:sp>
      <p:pic>
        <p:nvPicPr>
          <p:cNvPr id="7" name="Picture 6" descr="heatmap_correlac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1399145"/>
            <a:ext cx="6675120" cy="506555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498079" y="2011680"/>
            <a:ext cx="4023360" cy="27432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650">
                <a:solidFill>
                  <a:srgbClr val="1B222D"/>
                </a:solidFill>
                <a:latin typeface="Calibri"/>
              </a:rPr>
              <a:t>›  Frase vs. secuencia: r = 0.60 (positiva moderada).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650">
                <a:solidFill>
                  <a:srgbClr val="1B222D"/>
                </a:solidFill>
                <a:latin typeface="Calibri"/>
              </a:rPr>
              <a:t>›  Landmarks faltantes vs. secuencia: r = -0.19 (negativa débil).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650">
                <a:solidFill>
                  <a:srgbClr val="1B222D"/>
                </a:solidFill>
                <a:latin typeface="Calibri"/>
              </a:rPr>
              <a:t>›  Frase vs. landmarks faltantes: r = -0.01 (prácticamente nula).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B6B7C"/>
                </a:solidFill>
                <a:latin typeface="Calibri"/>
              </a:rPr>
              <a:t>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320040" cy="54864"/>
          </a:xfrm>
          <a:prstGeom prst="rect">
            <a:avLst/>
          </a:prstGeom>
          <a:solidFill>
            <a:srgbClr val="2CA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CA6A4"/>
                </a:solidFill>
                <a:latin typeface="Calibri"/>
              </a:rPr>
              <a:t>ANÁLISIS EXPLORATORIO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Diferencias entre participantes</a:t>
            </a:r>
          </a:p>
        </p:txBody>
      </p:sp>
      <p:pic>
        <p:nvPicPr>
          <p:cNvPr id="7" name="Picture 6" descr="box_seq_len_by_participan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31039" y="1417320"/>
            <a:ext cx="8299441" cy="42062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48640" y="5760720"/>
            <a:ext cx="11064240" cy="8229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600"/>
              </a:spcAft>
            </a:pPr>
            <a:r>
              <a:rPr sz="1600">
                <a:solidFill>
                  <a:srgbClr val="1B222D"/>
                </a:solidFill>
                <a:latin typeface="Calibri"/>
              </a:rPr>
              <a:t>›  Las medianas por participante van de ~75 a ~241 cuadros: hay quienes deletrean más rápido o más lento.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B6B7C"/>
                </a:solidFill>
                <a:latin typeface="Calibri"/>
              </a:rPr>
              <a:t>9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320040" cy="54864"/>
          </a:xfrm>
          <a:prstGeom prst="rect">
            <a:avLst/>
          </a:prstGeom>
          <a:solidFill>
            <a:srgbClr val="2CA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CA6A4"/>
                </a:solidFill>
                <a:latin typeface="Calibri"/>
              </a:rPr>
              <a:t>ANÁLISIS EXPLORATORIO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Frecuencia de caracteres: alfabeto desbalanceado</a:t>
            </a:r>
          </a:p>
        </p:txBody>
      </p:sp>
      <p:pic>
        <p:nvPicPr>
          <p:cNvPr id="7" name="Picture 6" descr="bar_char_frequ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57200" y="1951712"/>
            <a:ext cx="7406640" cy="3411776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8138160" y="2103120"/>
            <a:ext cx="356616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1B222D"/>
                </a:solidFill>
                <a:latin typeface="Calibri"/>
              </a:rPr>
              <a:t>›  59 símbolos distintos: 61% letras, 25% dígitos, 5% espacios, 9% otros símbolos.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1B222D"/>
                </a:solidFill>
                <a:latin typeface="Calibri"/>
              </a:rPr>
              <a:t>›  e, a, o, r, n, t concentran la mayoría de apariciones.</a:t>
            </a:r>
          </a:p>
          <a:p>
            <a:pPr>
              <a:lnSpc>
                <a:spcPct val="108000"/>
              </a:lnSpc>
              <a:spcAft>
                <a:spcPts val="1400"/>
              </a:spcAft>
            </a:pPr>
            <a:r>
              <a:rPr sz="1550">
                <a:solidFill>
                  <a:srgbClr val="1B222D"/>
                </a:solidFill>
                <a:latin typeface="Calibri"/>
              </a:rPr>
              <a:t>›  j, q, z y varios símbolos casi no tienen muestras.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B6B7C"/>
                </a:solidFill>
                <a:latin typeface="Calibri"/>
              </a:rPr>
              <a:t>10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320040" cy="54864"/>
          </a:xfrm>
          <a:prstGeom prst="rect">
            <a:avLst/>
          </a:prstGeom>
          <a:solidFill>
            <a:srgbClr val="2CA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CA6A4"/>
                </a:solidFill>
                <a:latin typeface="Calibri"/>
              </a:rPr>
              <a:t>ANÁLISIS EXPLORATORIO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Cómo se mueve una mano al deletrear</a:t>
            </a:r>
          </a:p>
        </p:txBody>
      </p:sp>
      <p:pic>
        <p:nvPicPr>
          <p:cNvPr id="7" name="Picture 6" descr="sample_hand_trajector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4910" y="1371600"/>
            <a:ext cx="6545459" cy="5120640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7589520" y="2103120"/>
            <a:ext cx="3931920" cy="320040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550">
                <a:solidFill>
                  <a:srgbClr val="1B222D"/>
                </a:solidFill>
                <a:latin typeface="Calibri"/>
              </a:rPr>
              <a:t>›  Trayectoria 2D de los landmarks de una mano en una secuencia completa.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550">
                <a:solidFill>
                  <a:srgbClr val="1B222D"/>
                </a:solidFill>
                <a:latin typeface="Calibri"/>
              </a:rPr>
              <a:t>›  Se ven zonas donde el trazo se concentra: pausas y cambios de forma entre letras.</a:t>
            </a:r>
          </a:p>
          <a:p>
            <a:pPr>
              <a:lnSpc>
                <a:spcPct val="108000"/>
              </a:lnSpc>
              <a:spcAft>
                <a:spcPts val="1600"/>
              </a:spcAft>
            </a:pPr>
            <a:r>
              <a:rPr sz="1550">
                <a:solidFill>
                  <a:srgbClr val="1B222D"/>
                </a:solidFill>
                <a:latin typeface="Calibri"/>
              </a:rPr>
              <a:t>›  Refuerza por qué el orden temporal importa tanto como la posición.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B6B7C"/>
                </a:solidFill>
                <a:latin typeface="Calibri"/>
              </a:rPr>
              <a:t>11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72A4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F28C2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286000"/>
            <a:ext cx="2743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400" b="1" i="0">
                <a:solidFill>
                  <a:srgbClr val="2CA6A4"/>
                </a:solidFill>
                <a:latin typeface="Calibri"/>
              </a:rPr>
              <a:t/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383280"/>
            <a:ext cx="1005840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3400" b="1" i="0">
                <a:solidFill>
                  <a:srgbClr val="FFFFFF"/>
                </a:solidFill>
                <a:latin typeface="Calibri"/>
              </a:rPr>
              <a:t>Hallazgos principales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4206240"/>
            <a:ext cx="9601200" cy="7315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600" b="0" i="0">
                <a:solidFill>
                  <a:srgbClr val="B8C4D0"/>
                </a:solidFill>
                <a:latin typeface="Calibri"/>
              </a:rPr>
              <a:t>Lo que encontramos en el análisis exploratorio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B6B7C"/>
                </a:solidFill>
                <a:latin typeface="Calibri"/>
              </a:rPr>
              <a:t>12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320040" cy="54864"/>
          </a:xfrm>
          <a:prstGeom prst="rect">
            <a:avLst/>
          </a:prstGeom>
          <a:solidFill>
            <a:srgbClr val="2CA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CA6A4"/>
                </a:solidFill>
                <a:latin typeface="Calibri"/>
              </a:rPr>
              <a:t>HALLAZGOS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Resumen de hallazgos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88136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>
                <a:solidFill>
                  <a:srgbClr val="1B222D"/>
                </a:solidFill>
                <a:latin typeface="Calibri"/>
              </a:rPr>
              <a:t>›  Los datos son secuencias de landmarks, no video: 1,630 columnas por cuadro, con la mano derecha ausente en más de la mitad de los cuadros en promedio.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>
                <a:solidFill>
                  <a:srgbClr val="1B222D"/>
                </a:solidFill>
                <a:latin typeface="Calibri"/>
              </a:rPr>
              <a:t>›  94 participantes y 59 caracteres muy desbalanceados entre sí: cualquier evaluación futura debe separarse por participante y reportarse por carácter.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>
                <a:solidFill>
                  <a:srgbClr val="1B222D"/>
                </a:solidFill>
                <a:latin typeface="Calibri"/>
              </a:rPr>
              <a:t>›  La longitud de secuencia (147 cuadros de mediana, sesgada a la derecha) no es tan predecible como la longitud de frase; un futuro modelo necesita aceptar longitudes variables.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>
                <a:solidFill>
                  <a:srgbClr val="1B222D"/>
                </a:solidFill>
                <a:latin typeface="Calibri"/>
              </a:rPr>
              <a:t>›  La correlación frase-secuencia (r = 0.60) es la relación más fuerte encontrada; el resto de cruces son débiles o nulos.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>
                <a:solidFill>
                  <a:srgbClr val="1B222D"/>
                </a:solidFill>
                <a:latin typeface="Calibri"/>
              </a:rPr>
              <a:t>›  Se detectaron 28 secuencias atípicas (~3%) con el criterio de 1.5·IQR, todas por longitud inusualmente grande.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B6B7C"/>
                </a:solidFill>
                <a:latin typeface="Calibri"/>
              </a:rPr>
              <a:t>13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6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1234440"/>
          </a:xfrm>
          <a:prstGeom prst="rect">
            <a:avLst/>
          </a:prstGeom>
          <a:solidFill>
            <a:srgbClr val="0F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48640" y="384048"/>
            <a:ext cx="320040" cy="54864"/>
          </a:xfrm>
          <a:prstGeom prst="rect">
            <a:avLst/>
          </a:prstGeom>
          <a:solidFill>
            <a:srgbClr val="2CA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60120" y="27432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 i="0">
                <a:solidFill>
                  <a:srgbClr val="2CA6A4"/>
                </a:solidFill>
                <a:latin typeface="Calibri"/>
              </a:rPr>
              <a:t>CONCLUSIONES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548640"/>
            <a:ext cx="1051560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500" b="1" i="0">
                <a:solidFill>
                  <a:srgbClr val="FFFFFF"/>
                </a:solidFill>
                <a:latin typeface="Calibri"/>
              </a:rPr>
              <a:t>Próximos pasos para el modelado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1737360"/>
            <a:ext cx="10881360" cy="448056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>
                <a:solidFill>
                  <a:srgbClr val="1B222D"/>
                </a:solidFill>
                <a:latin typeface="Calibri"/>
              </a:rPr>
              <a:t>›  Tratar landmarks faltantes con forward-fill, no interpolación ni ceros.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>
                <a:solidFill>
                  <a:srgbClr val="1B222D"/>
                </a:solidFill>
                <a:latin typeface="Calibri"/>
              </a:rPr>
              <a:t>›  Descartar las 468 columnas de rostro: aportan poco y encarecen el procesamiento.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>
                <a:solidFill>
                  <a:srgbClr val="1B222D"/>
                </a:solidFill>
                <a:latin typeface="Calibri"/>
              </a:rPr>
              <a:t>›  Separar entrenamiento y validación por participante, no al azar.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>
                <a:solidFill>
                  <a:srgbClr val="1B222D"/>
                </a:solidFill>
                <a:latin typeface="Calibri"/>
              </a:rPr>
              <a:t>›  Aceptar longitud de secuencia variable (recorte o relleno).</a:t>
            </a:r>
          </a:p>
          <a:p>
            <a:pPr>
              <a:lnSpc>
                <a:spcPct val="108000"/>
              </a:lnSpc>
              <a:spcAft>
                <a:spcPts val="2000"/>
              </a:spcAft>
            </a:pPr>
            <a:r>
              <a:rPr sz="1800">
                <a:solidFill>
                  <a:srgbClr val="1B222D"/>
                </a:solidFill>
                <a:latin typeface="Calibri"/>
              </a:rPr>
              <a:t>›  Reportar desempeño por carácter, no solo en promedio.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551615" y="6446520"/>
            <a:ext cx="45720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>
              <a:lnSpc>
                <a:spcPct val="100000"/>
              </a:lnSpc>
            </a:pPr>
            <a:r>
              <a:rPr sz="1100" b="0" i="0">
                <a:solidFill>
                  <a:srgbClr val="5B6B7C"/>
                </a:solidFill>
                <a:latin typeface="Calibri"/>
              </a:rPr>
              <a:t>14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1E3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256032" cy="6858000"/>
          </a:xfrm>
          <a:prstGeom prst="rect">
            <a:avLst/>
          </a:prstGeom>
          <a:solidFill>
            <a:srgbClr val="2CA6A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822960" y="2468880"/>
            <a:ext cx="7315200" cy="11887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4800" b="1" i="0">
                <a:solidFill>
                  <a:srgbClr val="FFFFFF"/>
                </a:solidFill>
                <a:latin typeface="Calibri"/>
              </a:rPr>
              <a:t>Gracias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731520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0" i="0">
                <a:solidFill>
                  <a:srgbClr val="B8C4D0"/>
                </a:solidFill>
                <a:latin typeface="Calibri"/>
              </a:rPr>
              <a:t>Preguntas y comentarios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6035040"/>
            <a:ext cx="82296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300" b="0" i="0">
                <a:solidFill>
                  <a:srgbClr val="2CA6A4"/>
                </a:solidFill>
                <a:latin typeface="Calibri"/>
              </a:rPr>
              <a:t>Repositorio: https://github.com/DufreyM/CC3084-Proyecto2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